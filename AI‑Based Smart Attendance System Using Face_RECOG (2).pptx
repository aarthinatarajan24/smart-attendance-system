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9"/>
  </p:notesMasterIdLst>
  <p:sldIdLst>
    <p:sldId id="256" r:id="rId2"/>
    <p:sldId id="257" r:id="rId3"/>
    <p:sldId id="258" r:id="rId4"/>
    <p:sldId id="259" r:id="rId5"/>
    <p:sldId id="272" r:id="rId6"/>
    <p:sldId id="273" r:id="rId7"/>
    <p:sldId id="261" r:id="rId8"/>
    <p:sldId id="262" r:id="rId9"/>
    <p:sldId id="274" r:id="rId10"/>
    <p:sldId id="275" r:id="rId11"/>
    <p:sldId id="263" r:id="rId12"/>
    <p:sldId id="264" r:id="rId13"/>
    <p:sldId id="265" r:id="rId14"/>
    <p:sldId id="266" r:id="rId15"/>
    <p:sldId id="267" r:id="rId16"/>
    <p:sldId id="268" r:id="rId17"/>
    <p:sldId id="27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731" autoAdjust="0"/>
  </p:normalViewPr>
  <p:slideViewPr>
    <p:cSldViewPr snapToGrid="0">
      <p:cViewPr varScale="1">
        <p:scale>
          <a:sx n="79" d="100"/>
          <a:sy n="79" d="100"/>
        </p:scale>
        <p:origin x="152" y="52"/>
      </p:cViewPr>
      <p:guideLst/>
    </p:cSldViewPr>
  </p:slideViewPr>
  <p:notesTextViewPr>
    <p:cViewPr>
      <p:scale>
        <a:sx n="1" d="1"/>
        <a:sy n="1" d="1"/>
      </p:scale>
      <p:origin x="0" y="0"/>
    </p:cViewPr>
  </p:notesTextViewPr>
  <p:sorterViewPr>
    <p:cViewPr>
      <p:scale>
        <a:sx n="100" d="100"/>
        <a:sy n="100" d="100"/>
      </p:scale>
      <p:origin x="0" y="-82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59688A-57DD-43DD-8A6B-2D52A3FC3293}" type="datetimeFigureOut">
              <a:rPr lang="en-US" smtClean="0"/>
              <a:t>4/16/2026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674717-4746-4F57-BF4A-100B9EA089A2}" type="slidenum">
              <a:rPr lang="en-US" smtClean="0"/>
              <a:t>‹#›</a:t>
            </a:fld>
            <a:endParaRPr lang="en-US"/>
          </a:p>
        </p:txBody>
      </p:sp>
    </p:spTree>
    <p:extLst>
      <p:ext uri="{BB962C8B-B14F-4D97-AF65-F5344CB8AC3E}">
        <p14:creationId xmlns:p14="http://schemas.microsoft.com/office/powerpoint/2010/main" val="18194887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4855A-3577-4489-3177-D9DA808A16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353280-06D8-D8F7-C8AB-466E659A48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A4CE07-DB25-72C6-9526-CF5F86617B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038B10-1036-79BA-50E1-9EA3EC90579E}"/>
              </a:ext>
            </a:extLst>
          </p:cNvPr>
          <p:cNvSpPr>
            <a:spLocks noGrp="1"/>
          </p:cNvSpPr>
          <p:nvPr>
            <p:ph type="sldNum" sz="quarter" idx="5"/>
          </p:nvPr>
        </p:nvSpPr>
        <p:spPr/>
        <p:txBody>
          <a:bodyPr/>
          <a:lstStyle/>
          <a:p>
            <a:fld id="{98674717-4746-4F57-BF4A-100B9EA089A2}" type="slidenum">
              <a:rPr lang="en-US" smtClean="0"/>
              <a:t>5</a:t>
            </a:fld>
            <a:endParaRPr lang="en-US"/>
          </a:p>
        </p:txBody>
      </p:sp>
    </p:spTree>
    <p:extLst>
      <p:ext uri="{BB962C8B-B14F-4D97-AF65-F5344CB8AC3E}">
        <p14:creationId xmlns:p14="http://schemas.microsoft.com/office/powerpoint/2010/main" val="32148930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30A56-3902-371F-3D52-090CF26EA55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6B98DEE-8516-9CAF-3211-961AD6EC50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E12B9C2-6A4C-EE47-D3C9-25CBA327A624}"/>
              </a:ext>
            </a:extLst>
          </p:cNvPr>
          <p:cNvSpPr>
            <a:spLocks noGrp="1"/>
          </p:cNvSpPr>
          <p:nvPr>
            <p:ph type="dt" sz="half" idx="10"/>
          </p:nvPr>
        </p:nvSpPr>
        <p:spPr/>
        <p:txBody>
          <a:bodyPr/>
          <a:lstStyle/>
          <a:p>
            <a:fld id="{22709CEE-3CD3-442D-9CBA-DA114FE04E4F}" type="datetimeFigureOut">
              <a:rPr lang="en-US" smtClean="0"/>
              <a:t>4/16/2026</a:t>
            </a:fld>
            <a:endParaRPr lang="en-US"/>
          </a:p>
        </p:txBody>
      </p:sp>
      <p:sp>
        <p:nvSpPr>
          <p:cNvPr id="5" name="Footer Placeholder 4">
            <a:extLst>
              <a:ext uri="{FF2B5EF4-FFF2-40B4-BE49-F238E27FC236}">
                <a16:creationId xmlns:a16="http://schemas.microsoft.com/office/drawing/2014/main" id="{7C9B4BED-FF63-073D-75AC-302418397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2C1DBD-BFA8-64E4-40F9-63A8B90DD375}"/>
              </a:ext>
            </a:extLst>
          </p:cNvPr>
          <p:cNvSpPr>
            <a:spLocks noGrp="1"/>
          </p:cNvSpPr>
          <p:nvPr>
            <p:ph type="sldNum" sz="quarter" idx="12"/>
          </p:nvPr>
        </p:nvSpPr>
        <p:spPr/>
        <p:txBody>
          <a:bodyPr/>
          <a:lstStyle/>
          <a:p>
            <a:fld id="{786A3A17-B1C3-4DD3-B69D-B5B2C928600C}" type="slidenum">
              <a:rPr lang="en-US" smtClean="0"/>
              <a:t>‹#›</a:t>
            </a:fld>
            <a:endParaRPr lang="en-US"/>
          </a:p>
        </p:txBody>
      </p:sp>
    </p:spTree>
    <p:extLst>
      <p:ext uri="{BB962C8B-B14F-4D97-AF65-F5344CB8AC3E}">
        <p14:creationId xmlns:p14="http://schemas.microsoft.com/office/powerpoint/2010/main" val="4009041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E4B93-9F7E-0C8F-49EB-CE6711516E4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A8BA6A-106A-93DC-D8CD-797491BD25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856AFC-1F36-EA13-5AA7-BC21EEA55F00}"/>
              </a:ext>
            </a:extLst>
          </p:cNvPr>
          <p:cNvSpPr>
            <a:spLocks noGrp="1"/>
          </p:cNvSpPr>
          <p:nvPr>
            <p:ph type="dt" sz="half" idx="10"/>
          </p:nvPr>
        </p:nvSpPr>
        <p:spPr/>
        <p:txBody>
          <a:bodyPr/>
          <a:lstStyle/>
          <a:p>
            <a:fld id="{22709CEE-3CD3-442D-9CBA-DA114FE04E4F}" type="datetimeFigureOut">
              <a:rPr lang="en-US" smtClean="0"/>
              <a:t>4/16/2026</a:t>
            </a:fld>
            <a:endParaRPr lang="en-US"/>
          </a:p>
        </p:txBody>
      </p:sp>
      <p:sp>
        <p:nvSpPr>
          <p:cNvPr id="5" name="Footer Placeholder 4">
            <a:extLst>
              <a:ext uri="{FF2B5EF4-FFF2-40B4-BE49-F238E27FC236}">
                <a16:creationId xmlns:a16="http://schemas.microsoft.com/office/drawing/2014/main" id="{03099826-46D7-D0ED-E351-F0A83BC610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A770F6-84A5-5D09-ADE4-0F44BE9DF197}"/>
              </a:ext>
            </a:extLst>
          </p:cNvPr>
          <p:cNvSpPr>
            <a:spLocks noGrp="1"/>
          </p:cNvSpPr>
          <p:nvPr>
            <p:ph type="sldNum" sz="quarter" idx="12"/>
          </p:nvPr>
        </p:nvSpPr>
        <p:spPr/>
        <p:txBody>
          <a:bodyPr/>
          <a:lstStyle/>
          <a:p>
            <a:fld id="{786A3A17-B1C3-4DD3-B69D-B5B2C928600C}" type="slidenum">
              <a:rPr lang="en-US" smtClean="0"/>
              <a:t>‹#›</a:t>
            </a:fld>
            <a:endParaRPr lang="en-US"/>
          </a:p>
        </p:txBody>
      </p:sp>
    </p:spTree>
    <p:extLst>
      <p:ext uri="{BB962C8B-B14F-4D97-AF65-F5344CB8AC3E}">
        <p14:creationId xmlns:p14="http://schemas.microsoft.com/office/powerpoint/2010/main" val="2910306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DB436-39BC-0B7E-D78D-97EF4550CA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AB9FB54-AA94-B7A2-C135-A82DEA4C2FB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05821A-1D47-5360-1482-0583A245B03A}"/>
              </a:ext>
            </a:extLst>
          </p:cNvPr>
          <p:cNvSpPr>
            <a:spLocks noGrp="1"/>
          </p:cNvSpPr>
          <p:nvPr>
            <p:ph type="dt" sz="half" idx="10"/>
          </p:nvPr>
        </p:nvSpPr>
        <p:spPr/>
        <p:txBody>
          <a:bodyPr/>
          <a:lstStyle/>
          <a:p>
            <a:fld id="{22709CEE-3CD3-442D-9CBA-DA114FE04E4F}" type="datetimeFigureOut">
              <a:rPr lang="en-US" smtClean="0"/>
              <a:t>4/16/2026</a:t>
            </a:fld>
            <a:endParaRPr lang="en-US"/>
          </a:p>
        </p:txBody>
      </p:sp>
      <p:sp>
        <p:nvSpPr>
          <p:cNvPr id="5" name="Footer Placeholder 4">
            <a:extLst>
              <a:ext uri="{FF2B5EF4-FFF2-40B4-BE49-F238E27FC236}">
                <a16:creationId xmlns:a16="http://schemas.microsoft.com/office/drawing/2014/main" id="{F61A9FBE-D282-B344-ECA6-9F69D10CC0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8B7821-BE06-9792-818E-072B96D50B2E}"/>
              </a:ext>
            </a:extLst>
          </p:cNvPr>
          <p:cNvSpPr>
            <a:spLocks noGrp="1"/>
          </p:cNvSpPr>
          <p:nvPr>
            <p:ph type="sldNum" sz="quarter" idx="12"/>
          </p:nvPr>
        </p:nvSpPr>
        <p:spPr/>
        <p:txBody>
          <a:bodyPr/>
          <a:lstStyle/>
          <a:p>
            <a:fld id="{786A3A17-B1C3-4DD3-B69D-B5B2C928600C}" type="slidenum">
              <a:rPr lang="en-US" smtClean="0"/>
              <a:t>‹#›</a:t>
            </a:fld>
            <a:endParaRPr lang="en-US"/>
          </a:p>
        </p:txBody>
      </p:sp>
    </p:spTree>
    <p:extLst>
      <p:ext uri="{BB962C8B-B14F-4D97-AF65-F5344CB8AC3E}">
        <p14:creationId xmlns:p14="http://schemas.microsoft.com/office/powerpoint/2010/main" val="590482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0ED76-9DE8-B0F9-76AE-8D0C07F9AA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BEA136-AD74-4F4F-358C-59F59AB567A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157FACC-D7C1-0F9A-1971-4334D48AA5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FD1D226-E13C-43CB-99DE-EE8B8C6CB1A0}"/>
              </a:ext>
            </a:extLst>
          </p:cNvPr>
          <p:cNvSpPr>
            <a:spLocks noGrp="1"/>
          </p:cNvSpPr>
          <p:nvPr>
            <p:ph type="dt" sz="half" idx="10"/>
          </p:nvPr>
        </p:nvSpPr>
        <p:spPr/>
        <p:txBody>
          <a:bodyPr/>
          <a:lstStyle/>
          <a:p>
            <a:fld id="{22709CEE-3CD3-442D-9CBA-DA114FE04E4F}" type="datetimeFigureOut">
              <a:rPr lang="en-US" smtClean="0"/>
              <a:t>4/16/2026</a:t>
            </a:fld>
            <a:endParaRPr lang="en-US"/>
          </a:p>
        </p:txBody>
      </p:sp>
      <p:sp>
        <p:nvSpPr>
          <p:cNvPr id="6" name="Footer Placeholder 5">
            <a:extLst>
              <a:ext uri="{FF2B5EF4-FFF2-40B4-BE49-F238E27FC236}">
                <a16:creationId xmlns:a16="http://schemas.microsoft.com/office/drawing/2014/main" id="{FE7B2197-4A6A-2186-3ACC-9C60B094A9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31918F-7E2A-F469-24C1-AE871DA35C04}"/>
              </a:ext>
            </a:extLst>
          </p:cNvPr>
          <p:cNvSpPr>
            <a:spLocks noGrp="1"/>
          </p:cNvSpPr>
          <p:nvPr>
            <p:ph type="sldNum" sz="quarter" idx="12"/>
          </p:nvPr>
        </p:nvSpPr>
        <p:spPr/>
        <p:txBody>
          <a:bodyPr/>
          <a:lstStyle/>
          <a:p>
            <a:fld id="{786A3A17-B1C3-4DD3-B69D-B5B2C928600C}" type="slidenum">
              <a:rPr lang="en-US" smtClean="0"/>
              <a:t>‹#›</a:t>
            </a:fld>
            <a:endParaRPr lang="en-US"/>
          </a:p>
        </p:txBody>
      </p:sp>
    </p:spTree>
    <p:extLst>
      <p:ext uri="{BB962C8B-B14F-4D97-AF65-F5344CB8AC3E}">
        <p14:creationId xmlns:p14="http://schemas.microsoft.com/office/powerpoint/2010/main" val="3567339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BFCF9-2E45-00E9-44A4-BFAC5AB0B70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04AAA18-BA84-AD17-1CD0-A4CF56D68F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A9F5DF3-E35C-AE9C-BC0D-2A242018941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2FC1C67-E40B-9A5F-6307-6D691CE67B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0888FB-56B1-AFD9-F9B8-3EBF66171D1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0CE4A25-99A4-E4EA-7C20-CC9A000E6A7E}"/>
              </a:ext>
            </a:extLst>
          </p:cNvPr>
          <p:cNvSpPr>
            <a:spLocks noGrp="1"/>
          </p:cNvSpPr>
          <p:nvPr>
            <p:ph type="dt" sz="half" idx="10"/>
          </p:nvPr>
        </p:nvSpPr>
        <p:spPr/>
        <p:txBody>
          <a:bodyPr/>
          <a:lstStyle/>
          <a:p>
            <a:fld id="{22709CEE-3CD3-442D-9CBA-DA114FE04E4F}" type="datetimeFigureOut">
              <a:rPr lang="en-US" smtClean="0"/>
              <a:t>4/16/2026</a:t>
            </a:fld>
            <a:endParaRPr lang="en-US"/>
          </a:p>
        </p:txBody>
      </p:sp>
      <p:sp>
        <p:nvSpPr>
          <p:cNvPr id="8" name="Footer Placeholder 7">
            <a:extLst>
              <a:ext uri="{FF2B5EF4-FFF2-40B4-BE49-F238E27FC236}">
                <a16:creationId xmlns:a16="http://schemas.microsoft.com/office/drawing/2014/main" id="{790427A4-FAC3-DD48-90A8-8332797734E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C47B97-039C-CFBE-62CA-FDAC4DE669D2}"/>
              </a:ext>
            </a:extLst>
          </p:cNvPr>
          <p:cNvSpPr>
            <a:spLocks noGrp="1"/>
          </p:cNvSpPr>
          <p:nvPr>
            <p:ph type="sldNum" sz="quarter" idx="12"/>
          </p:nvPr>
        </p:nvSpPr>
        <p:spPr/>
        <p:txBody>
          <a:bodyPr/>
          <a:lstStyle/>
          <a:p>
            <a:fld id="{786A3A17-B1C3-4DD3-B69D-B5B2C928600C}" type="slidenum">
              <a:rPr lang="en-US" smtClean="0"/>
              <a:t>‹#›</a:t>
            </a:fld>
            <a:endParaRPr lang="en-US"/>
          </a:p>
        </p:txBody>
      </p:sp>
    </p:spTree>
    <p:extLst>
      <p:ext uri="{BB962C8B-B14F-4D97-AF65-F5344CB8AC3E}">
        <p14:creationId xmlns:p14="http://schemas.microsoft.com/office/powerpoint/2010/main" val="1330523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19F15-5C8B-A382-8F80-3BF1BBACDFC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971D439-1790-1FB4-13F0-52F09E72EF45}"/>
              </a:ext>
            </a:extLst>
          </p:cNvPr>
          <p:cNvSpPr>
            <a:spLocks noGrp="1"/>
          </p:cNvSpPr>
          <p:nvPr>
            <p:ph type="dt" sz="half" idx="10"/>
          </p:nvPr>
        </p:nvSpPr>
        <p:spPr/>
        <p:txBody>
          <a:bodyPr/>
          <a:lstStyle/>
          <a:p>
            <a:fld id="{22709CEE-3CD3-442D-9CBA-DA114FE04E4F}" type="datetimeFigureOut">
              <a:rPr lang="en-US" smtClean="0"/>
              <a:t>4/16/2026</a:t>
            </a:fld>
            <a:endParaRPr lang="en-US"/>
          </a:p>
        </p:txBody>
      </p:sp>
      <p:sp>
        <p:nvSpPr>
          <p:cNvPr id="4" name="Footer Placeholder 3">
            <a:extLst>
              <a:ext uri="{FF2B5EF4-FFF2-40B4-BE49-F238E27FC236}">
                <a16:creationId xmlns:a16="http://schemas.microsoft.com/office/drawing/2014/main" id="{21C9C67D-2FBC-5660-9DB3-EDF2E7B816B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4F247AA-9031-9FE7-64DA-91D8A2E89D5E}"/>
              </a:ext>
            </a:extLst>
          </p:cNvPr>
          <p:cNvSpPr>
            <a:spLocks noGrp="1"/>
          </p:cNvSpPr>
          <p:nvPr>
            <p:ph type="sldNum" sz="quarter" idx="12"/>
          </p:nvPr>
        </p:nvSpPr>
        <p:spPr/>
        <p:txBody>
          <a:bodyPr/>
          <a:lstStyle/>
          <a:p>
            <a:fld id="{786A3A17-B1C3-4DD3-B69D-B5B2C928600C}" type="slidenum">
              <a:rPr lang="en-US" smtClean="0"/>
              <a:t>‹#›</a:t>
            </a:fld>
            <a:endParaRPr lang="en-US"/>
          </a:p>
        </p:txBody>
      </p:sp>
    </p:spTree>
    <p:extLst>
      <p:ext uri="{BB962C8B-B14F-4D97-AF65-F5344CB8AC3E}">
        <p14:creationId xmlns:p14="http://schemas.microsoft.com/office/powerpoint/2010/main" val="1521080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7B3AB5-619A-4DE6-284D-313AD88F91E6}"/>
              </a:ext>
            </a:extLst>
          </p:cNvPr>
          <p:cNvSpPr>
            <a:spLocks noGrp="1"/>
          </p:cNvSpPr>
          <p:nvPr>
            <p:ph type="dt" sz="half" idx="10"/>
          </p:nvPr>
        </p:nvSpPr>
        <p:spPr/>
        <p:txBody>
          <a:bodyPr/>
          <a:lstStyle/>
          <a:p>
            <a:fld id="{22709CEE-3CD3-442D-9CBA-DA114FE04E4F}" type="datetimeFigureOut">
              <a:rPr lang="en-US" smtClean="0"/>
              <a:t>4/16/2026</a:t>
            </a:fld>
            <a:endParaRPr lang="en-US"/>
          </a:p>
        </p:txBody>
      </p:sp>
      <p:sp>
        <p:nvSpPr>
          <p:cNvPr id="3" name="Footer Placeholder 2">
            <a:extLst>
              <a:ext uri="{FF2B5EF4-FFF2-40B4-BE49-F238E27FC236}">
                <a16:creationId xmlns:a16="http://schemas.microsoft.com/office/drawing/2014/main" id="{66A9876A-3522-0E69-D82C-A401D814862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9D4F55-D793-30F5-9363-644EC104E04F}"/>
              </a:ext>
            </a:extLst>
          </p:cNvPr>
          <p:cNvSpPr>
            <a:spLocks noGrp="1"/>
          </p:cNvSpPr>
          <p:nvPr>
            <p:ph type="sldNum" sz="quarter" idx="12"/>
          </p:nvPr>
        </p:nvSpPr>
        <p:spPr/>
        <p:txBody>
          <a:bodyPr/>
          <a:lstStyle/>
          <a:p>
            <a:fld id="{786A3A17-B1C3-4DD3-B69D-B5B2C928600C}" type="slidenum">
              <a:rPr lang="en-US" smtClean="0"/>
              <a:t>‹#›</a:t>
            </a:fld>
            <a:endParaRPr lang="en-US"/>
          </a:p>
        </p:txBody>
      </p:sp>
    </p:spTree>
    <p:extLst>
      <p:ext uri="{BB962C8B-B14F-4D97-AF65-F5344CB8AC3E}">
        <p14:creationId xmlns:p14="http://schemas.microsoft.com/office/powerpoint/2010/main" val="1353048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C4A84-AD9B-08AF-D7BF-639907DFC2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6C3995-CAD6-5B61-6E85-AA83EA55A3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22BFFCA-43BF-2759-181B-A6CFB7A6B3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31D340-D3FF-5ED6-682C-68A0865BF66D}"/>
              </a:ext>
            </a:extLst>
          </p:cNvPr>
          <p:cNvSpPr>
            <a:spLocks noGrp="1"/>
          </p:cNvSpPr>
          <p:nvPr>
            <p:ph type="dt" sz="half" idx="10"/>
          </p:nvPr>
        </p:nvSpPr>
        <p:spPr/>
        <p:txBody>
          <a:bodyPr/>
          <a:lstStyle/>
          <a:p>
            <a:fld id="{22709CEE-3CD3-442D-9CBA-DA114FE04E4F}" type="datetimeFigureOut">
              <a:rPr lang="en-US" smtClean="0"/>
              <a:t>4/16/2026</a:t>
            </a:fld>
            <a:endParaRPr lang="en-US"/>
          </a:p>
        </p:txBody>
      </p:sp>
      <p:sp>
        <p:nvSpPr>
          <p:cNvPr id="6" name="Footer Placeholder 5">
            <a:extLst>
              <a:ext uri="{FF2B5EF4-FFF2-40B4-BE49-F238E27FC236}">
                <a16:creationId xmlns:a16="http://schemas.microsoft.com/office/drawing/2014/main" id="{0966E42F-94C0-8C97-9C3F-1B516AE219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795C73-AF5B-07D1-A0E4-AEACDDABD785}"/>
              </a:ext>
            </a:extLst>
          </p:cNvPr>
          <p:cNvSpPr>
            <a:spLocks noGrp="1"/>
          </p:cNvSpPr>
          <p:nvPr>
            <p:ph type="sldNum" sz="quarter" idx="12"/>
          </p:nvPr>
        </p:nvSpPr>
        <p:spPr/>
        <p:txBody>
          <a:bodyPr/>
          <a:lstStyle/>
          <a:p>
            <a:fld id="{786A3A17-B1C3-4DD3-B69D-B5B2C928600C}" type="slidenum">
              <a:rPr lang="en-US" smtClean="0"/>
              <a:t>‹#›</a:t>
            </a:fld>
            <a:endParaRPr lang="en-US"/>
          </a:p>
        </p:txBody>
      </p:sp>
    </p:spTree>
    <p:extLst>
      <p:ext uri="{BB962C8B-B14F-4D97-AF65-F5344CB8AC3E}">
        <p14:creationId xmlns:p14="http://schemas.microsoft.com/office/powerpoint/2010/main" val="4261848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B42C8-EB6E-3C55-3EA9-5FAC865593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FF18B27-72F9-5E5B-08C7-2895E3833F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A7DD475-185D-F057-38CA-7256D7227E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71DE9F-EC51-67DD-B480-C2D0C6948D69}"/>
              </a:ext>
            </a:extLst>
          </p:cNvPr>
          <p:cNvSpPr>
            <a:spLocks noGrp="1"/>
          </p:cNvSpPr>
          <p:nvPr>
            <p:ph type="dt" sz="half" idx="10"/>
          </p:nvPr>
        </p:nvSpPr>
        <p:spPr/>
        <p:txBody>
          <a:bodyPr/>
          <a:lstStyle/>
          <a:p>
            <a:fld id="{22709CEE-3CD3-442D-9CBA-DA114FE04E4F}" type="datetimeFigureOut">
              <a:rPr lang="en-US" smtClean="0"/>
              <a:t>4/16/2026</a:t>
            </a:fld>
            <a:endParaRPr lang="en-US"/>
          </a:p>
        </p:txBody>
      </p:sp>
      <p:sp>
        <p:nvSpPr>
          <p:cNvPr id="6" name="Footer Placeholder 5">
            <a:extLst>
              <a:ext uri="{FF2B5EF4-FFF2-40B4-BE49-F238E27FC236}">
                <a16:creationId xmlns:a16="http://schemas.microsoft.com/office/drawing/2014/main" id="{E1690230-E498-25A6-60BE-0843DE39C7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CF0724-392F-8CCC-F02D-CB8EA757E59A}"/>
              </a:ext>
            </a:extLst>
          </p:cNvPr>
          <p:cNvSpPr>
            <a:spLocks noGrp="1"/>
          </p:cNvSpPr>
          <p:nvPr>
            <p:ph type="sldNum" sz="quarter" idx="12"/>
          </p:nvPr>
        </p:nvSpPr>
        <p:spPr/>
        <p:txBody>
          <a:bodyPr/>
          <a:lstStyle/>
          <a:p>
            <a:fld id="{786A3A17-B1C3-4DD3-B69D-B5B2C928600C}" type="slidenum">
              <a:rPr lang="en-US" smtClean="0"/>
              <a:t>‹#›</a:t>
            </a:fld>
            <a:endParaRPr lang="en-US"/>
          </a:p>
        </p:txBody>
      </p:sp>
    </p:spTree>
    <p:extLst>
      <p:ext uri="{BB962C8B-B14F-4D97-AF65-F5344CB8AC3E}">
        <p14:creationId xmlns:p14="http://schemas.microsoft.com/office/powerpoint/2010/main" val="1562144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B8D2F-61F4-4E32-3630-2EE64BCF5FB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41CEBFB-5B30-1060-D285-10F7B04AB18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420100-C748-83FA-4CEC-FE0E93764B67}"/>
              </a:ext>
            </a:extLst>
          </p:cNvPr>
          <p:cNvSpPr>
            <a:spLocks noGrp="1"/>
          </p:cNvSpPr>
          <p:nvPr>
            <p:ph type="dt" sz="half" idx="10"/>
          </p:nvPr>
        </p:nvSpPr>
        <p:spPr/>
        <p:txBody>
          <a:bodyPr/>
          <a:lstStyle/>
          <a:p>
            <a:fld id="{22709CEE-3CD3-442D-9CBA-DA114FE04E4F}" type="datetimeFigureOut">
              <a:rPr lang="en-US" smtClean="0"/>
              <a:t>4/16/2026</a:t>
            </a:fld>
            <a:endParaRPr lang="en-US"/>
          </a:p>
        </p:txBody>
      </p:sp>
      <p:sp>
        <p:nvSpPr>
          <p:cNvPr id="5" name="Footer Placeholder 4">
            <a:extLst>
              <a:ext uri="{FF2B5EF4-FFF2-40B4-BE49-F238E27FC236}">
                <a16:creationId xmlns:a16="http://schemas.microsoft.com/office/drawing/2014/main" id="{4B03B642-7D66-5572-64AE-B349FB7CDC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E6F8BA-5BFB-586C-6664-DE36FA0B104D}"/>
              </a:ext>
            </a:extLst>
          </p:cNvPr>
          <p:cNvSpPr>
            <a:spLocks noGrp="1"/>
          </p:cNvSpPr>
          <p:nvPr>
            <p:ph type="sldNum" sz="quarter" idx="12"/>
          </p:nvPr>
        </p:nvSpPr>
        <p:spPr/>
        <p:txBody>
          <a:bodyPr/>
          <a:lstStyle/>
          <a:p>
            <a:fld id="{786A3A17-B1C3-4DD3-B69D-B5B2C928600C}" type="slidenum">
              <a:rPr lang="en-US" smtClean="0"/>
              <a:t>‹#›</a:t>
            </a:fld>
            <a:endParaRPr lang="en-US"/>
          </a:p>
        </p:txBody>
      </p:sp>
    </p:spTree>
    <p:extLst>
      <p:ext uri="{BB962C8B-B14F-4D97-AF65-F5344CB8AC3E}">
        <p14:creationId xmlns:p14="http://schemas.microsoft.com/office/powerpoint/2010/main" val="34730718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F4161B-1CDA-39FA-202E-0772D0CD933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BE69565-5AC4-AEE1-ED96-5D556ADAFA4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F07626-D1A8-C231-DC10-92D921A368E6}"/>
              </a:ext>
            </a:extLst>
          </p:cNvPr>
          <p:cNvSpPr>
            <a:spLocks noGrp="1"/>
          </p:cNvSpPr>
          <p:nvPr>
            <p:ph type="dt" sz="half" idx="10"/>
          </p:nvPr>
        </p:nvSpPr>
        <p:spPr/>
        <p:txBody>
          <a:bodyPr/>
          <a:lstStyle/>
          <a:p>
            <a:fld id="{22709CEE-3CD3-442D-9CBA-DA114FE04E4F}" type="datetimeFigureOut">
              <a:rPr lang="en-US" smtClean="0"/>
              <a:t>4/16/2026</a:t>
            </a:fld>
            <a:endParaRPr lang="en-US"/>
          </a:p>
        </p:txBody>
      </p:sp>
      <p:sp>
        <p:nvSpPr>
          <p:cNvPr id="5" name="Footer Placeholder 4">
            <a:extLst>
              <a:ext uri="{FF2B5EF4-FFF2-40B4-BE49-F238E27FC236}">
                <a16:creationId xmlns:a16="http://schemas.microsoft.com/office/drawing/2014/main" id="{3D1A106B-4BD2-AF58-9300-D43D00B3CF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2E9597-98CD-4D70-2AB1-89BFF74CD363}"/>
              </a:ext>
            </a:extLst>
          </p:cNvPr>
          <p:cNvSpPr>
            <a:spLocks noGrp="1"/>
          </p:cNvSpPr>
          <p:nvPr>
            <p:ph type="sldNum" sz="quarter" idx="12"/>
          </p:nvPr>
        </p:nvSpPr>
        <p:spPr/>
        <p:txBody>
          <a:bodyPr/>
          <a:lstStyle/>
          <a:p>
            <a:fld id="{786A3A17-B1C3-4DD3-B69D-B5B2C928600C}" type="slidenum">
              <a:rPr lang="en-US" smtClean="0"/>
              <a:t>‹#›</a:t>
            </a:fld>
            <a:endParaRPr lang="en-US"/>
          </a:p>
        </p:txBody>
      </p:sp>
    </p:spTree>
    <p:extLst>
      <p:ext uri="{BB962C8B-B14F-4D97-AF65-F5344CB8AC3E}">
        <p14:creationId xmlns:p14="http://schemas.microsoft.com/office/powerpoint/2010/main" val="447250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B5F01F-E2CC-5D25-1056-4A1852B52A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7351ED0-D231-1198-9B49-29A9400C9F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029CBC-4E76-5298-AA5B-3457397FE5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709CEE-3CD3-442D-9CBA-DA114FE04E4F}" type="datetimeFigureOut">
              <a:rPr lang="en-US" smtClean="0"/>
              <a:t>4/16/2026</a:t>
            </a:fld>
            <a:endParaRPr lang="en-US"/>
          </a:p>
        </p:txBody>
      </p:sp>
      <p:sp>
        <p:nvSpPr>
          <p:cNvPr id="5" name="Footer Placeholder 4">
            <a:extLst>
              <a:ext uri="{FF2B5EF4-FFF2-40B4-BE49-F238E27FC236}">
                <a16:creationId xmlns:a16="http://schemas.microsoft.com/office/drawing/2014/main" id="{D7F2D158-2757-16AB-90AE-D12A182DF1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3AD9BA2-00BC-F33E-DFF5-BE6BD8238F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6A3A17-B1C3-4DD3-B69D-B5B2C928600C}" type="slidenum">
              <a:rPr lang="en-US" smtClean="0"/>
              <a:t>‹#›</a:t>
            </a:fld>
            <a:endParaRPr lang="en-US"/>
          </a:p>
        </p:txBody>
      </p:sp>
    </p:spTree>
    <p:extLst>
      <p:ext uri="{BB962C8B-B14F-4D97-AF65-F5344CB8AC3E}">
        <p14:creationId xmlns:p14="http://schemas.microsoft.com/office/powerpoint/2010/main" val="484300863"/>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548E2-9A74-7517-3B9E-23EE105548D1}"/>
              </a:ext>
            </a:extLst>
          </p:cNvPr>
          <p:cNvSpPr>
            <a:spLocks noGrp="1"/>
          </p:cNvSpPr>
          <p:nvPr>
            <p:ph type="ctrTitle"/>
          </p:nvPr>
        </p:nvSpPr>
        <p:spPr>
          <a:xfrm>
            <a:off x="1508639" y="891397"/>
            <a:ext cx="8825658" cy="2677648"/>
          </a:xfrm>
        </p:spPr>
        <p:txBody>
          <a:bodyPr/>
          <a:lstStyle/>
          <a:p>
            <a:pPr algn="ctr"/>
            <a:r>
              <a:rPr lang="en-US" sz="4400" b="1" dirty="0">
                <a:latin typeface="Times New Roman" panose="02020603050405020304" pitchFamily="18" charset="0"/>
                <a:cs typeface="Times New Roman" panose="02020603050405020304" pitchFamily="18" charset="0"/>
              </a:rPr>
              <a:t>AI‑Based Smart Attendance System Using Face Recognition in Classrooms</a:t>
            </a:r>
            <a:endParaRPr lang="en-US" sz="4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C3490BA2-DB10-6D01-EF2E-2F07ACB2938A}"/>
              </a:ext>
            </a:extLst>
          </p:cNvPr>
          <p:cNvSpPr>
            <a:spLocks noGrp="1"/>
          </p:cNvSpPr>
          <p:nvPr>
            <p:ph type="subTitle" idx="1"/>
          </p:nvPr>
        </p:nvSpPr>
        <p:spPr>
          <a:xfrm>
            <a:off x="1154955" y="4295954"/>
            <a:ext cx="10421694" cy="2104845"/>
          </a:xfrm>
        </p:spPr>
        <p:txBody>
          <a:bodyPr>
            <a:normAutofit/>
          </a:bodyPr>
          <a:lstStyle/>
          <a:p>
            <a:r>
              <a:rPr lang="en-US" dirty="0"/>
              <a:t>Presented by                                                                         Under the Guidance </a:t>
            </a:r>
          </a:p>
          <a:p>
            <a:pPr algn="l"/>
            <a:r>
              <a:rPr lang="en-US" dirty="0"/>
              <a:t>N. Aarthi -810022104079                                                           </a:t>
            </a:r>
            <a:r>
              <a:rPr lang="en-US" dirty="0" err="1"/>
              <a:t>Dr.V.M.Priyadharshini</a:t>
            </a:r>
            <a:r>
              <a:rPr lang="en-US" dirty="0"/>
              <a:t>  </a:t>
            </a:r>
          </a:p>
          <a:p>
            <a:pPr algn="l"/>
            <a:r>
              <a:rPr lang="en-US" dirty="0"/>
              <a:t>S. Bhavatharini -810022104090                                       Assistant Professor (</a:t>
            </a:r>
            <a:r>
              <a:rPr lang="en-US" dirty="0" err="1"/>
              <a:t>Sl.Grade</a:t>
            </a:r>
            <a:r>
              <a:rPr lang="en-US" dirty="0"/>
              <a:t>)</a:t>
            </a:r>
          </a:p>
        </p:txBody>
      </p:sp>
    </p:spTree>
    <p:extLst>
      <p:ext uri="{BB962C8B-B14F-4D97-AF65-F5344CB8AC3E}">
        <p14:creationId xmlns:p14="http://schemas.microsoft.com/office/powerpoint/2010/main" val="3078451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DD6BB-7D75-A0C9-D615-B9BA4099919C}"/>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AIM</a:t>
            </a:r>
          </a:p>
        </p:txBody>
      </p:sp>
      <p:sp>
        <p:nvSpPr>
          <p:cNvPr id="3" name="Content Placeholder 2">
            <a:extLst>
              <a:ext uri="{FF2B5EF4-FFF2-40B4-BE49-F238E27FC236}">
                <a16:creationId xmlns:a16="http://schemas.microsoft.com/office/drawing/2014/main" id="{1DAD1DBA-EC06-8749-F955-15EB34CC50FF}"/>
              </a:ext>
            </a:extLst>
          </p:cNvPr>
          <p:cNvSpPr>
            <a:spLocks noGrp="1"/>
          </p:cNvSpPr>
          <p:nvPr>
            <p:ph idx="1"/>
          </p:nvPr>
        </p:nvSpPr>
        <p:spPr>
          <a:xfrm>
            <a:off x="838200" y="1825625"/>
            <a:ext cx="10919604" cy="4351338"/>
          </a:xfrm>
        </p:spPr>
        <p:txBody>
          <a:bodyPr>
            <a:normAutofit/>
          </a:bodyPr>
          <a:lstStyle/>
          <a:p>
            <a:r>
              <a:rPr lang="en-US" sz="3200" dirty="0">
                <a:latin typeface="Times New Roman" panose="02020603050405020304" pitchFamily="18" charset="0"/>
                <a:cs typeface="Times New Roman" panose="02020603050405020304" pitchFamily="18" charset="0"/>
              </a:rPr>
              <a:t>The aim of this project is to develop an </a:t>
            </a:r>
            <a:r>
              <a:rPr lang="en-US" sz="3200" b="1" dirty="0">
                <a:latin typeface="Times New Roman" panose="02020603050405020304" pitchFamily="18" charset="0"/>
                <a:cs typeface="Times New Roman" panose="02020603050405020304" pitchFamily="18" charset="0"/>
              </a:rPr>
              <a:t>AI‑based smart attendance system</a:t>
            </a:r>
            <a:r>
              <a:rPr lang="en-US" sz="3200" dirty="0">
                <a:latin typeface="Times New Roman" panose="02020603050405020304" pitchFamily="18" charset="0"/>
                <a:cs typeface="Times New Roman" panose="02020603050405020304" pitchFamily="18" charset="0"/>
              </a:rPr>
              <a:t> using </a:t>
            </a:r>
            <a:r>
              <a:rPr lang="en-US" sz="3200" b="1" dirty="0">
                <a:latin typeface="Times New Roman" panose="02020603050405020304" pitchFamily="18" charset="0"/>
                <a:cs typeface="Times New Roman" panose="02020603050405020304" pitchFamily="18" charset="0"/>
              </a:rPr>
              <a:t>face recognition</a:t>
            </a:r>
            <a:r>
              <a:rPr lang="en-US" sz="3200" dirty="0">
                <a:latin typeface="Times New Roman" panose="02020603050405020304" pitchFamily="18" charset="0"/>
                <a:cs typeface="Times New Roman" panose="02020603050405020304" pitchFamily="18" charset="0"/>
              </a:rPr>
              <a:t> that can automatically mark attendance and ensure continuous presence of students throughout the class duration, thereby reducing proxy attendance and manual effort.</a:t>
            </a:r>
          </a:p>
        </p:txBody>
      </p:sp>
    </p:spTree>
    <p:extLst>
      <p:ext uri="{BB962C8B-B14F-4D97-AF65-F5344CB8AC3E}">
        <p14:creationId xmlns:p14="http://schemas.microsoft.com/office/powerpoint/2010/main" val="17664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9C743-B0BF-AF67-7FC1-69C17EAD569D}"/>
              </a:ext>
            </a:extLst>
          </p:cNvPr>
          <p:cNvSpPr>
            <a:spLocks noGrp="1"/>
          </p:cNvSpPr>
          <p:nvPr>
            <p:ph type="title"/>
          </p:nvPr>
        </p:nvSpPr>
        <p:spPr/>
        <p:txBody>
          <a:bodyPr/>
          <a:lstStyle/>
          <a:p>
            <a:r>
              <a:rPr lang="en-US" dirty="0"/>
              <a:t>				</a:t>
            </a:r>
            <a:r>
              <a:rPr lang="en-US" b="1"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B8903B66-F9F2-6463-2BBA-2C194FA8DEBF}"/>
              </a:ext>
            </a:extLst>
          </p:cNvPr>
          <p:cNvSpPr>
            <a:spLocks noGrp="1"/>
          </p:cNvSpPr>
          <p:nvPr>
            <p:ph idx="1"/>
          </p:nvPr>
        </p:nvSpPr>
        <p:spPr/>
        <p:txBody>
          <a:bodyPr/>
          <a:lstStyle/>
          <a:p>
            <a:r>
              <a:rPr lang="en-US" sz="2400" dirty="0">
                <a:latin typeface="Times New Roman" panose="02020603050405020304" pitchFamily="18" charset="0"/>
                <a:cs typeface="Times New Roman" panose="02020603050405020304" pitchFamily="18" charset="0"/>
              </a:rPr>
              <a:t>To design an automated attendance system for classrooms using AI based facial recognition.</a:t>
            </a:r>
          </a:p>
          <a:p>
            <a:r>
              <a:rPr lang="en-US" sz="2400" dirty="0">
                <a:latin typeface="Times New Roman" panose="02020603050405020304" pitchFamily="18" charset="0"/>
                <a:cs typeface="Times New Roman" panose="02020603050405020304" pitchFamily="18" charset="0"/>
              </a:rPr>
              <a:t>To eliminate proxy attendance using AI-based face identification. </a:t>
            </a:r>
          </a:p>
          <a:p>
            <a:r>
              <a:rPr lang="en-US" sz="2400" dirty="0">
                <a:latin typeface="Times New Roman" panose="02020603050405020304" pitchFamily="18" charset="0"/>
                <a:cs typeface="Times New Roman" panose="02020603050405020304" pitchFamily="18" charset="0"/>
              </a:rPr>
              <a:t>To monitor students continuously during the class session.  </a:t>
            </a:r>
          </a:p>
          <a:p>
            <a:r>
              <a:rPr lang="en-US" sz="2400" dirty="0">
                <a:latin typeface="Times New Roman" panose="02020603050405020304" pitchFamily="18" charset="0"/>
                <a:cs typeface="Times New Roman" panose="02020603050405020304" pitchFamily="18" charset="0"/>
              </a:rPr>
              <a:t>To reduce time and effort required for manual attendance.  </a:t>
            </a:r>
          </a:p>
          <a:p>
            <a:r>
              <a:rPr lang="en-US" sz="2400" dirty="0">
                <a:latin typeface="Times New Roman" panose="02020603050405020304" pitchFamily="18" charset="0"/>
                <a:cs typeface="Times New Roman" panose="02020603050405020304" pitchFamily="18" charset="0"/>
              </a:rPr>
              <a:t>To work efficiently in real classroom conditions like dim lighting and back-bench seating.  </a:t>
            </a:r>
          </a:p>
          <a:p>
            <a:r>
              <a:rPr lang="en-US" sz="2400" dirty="0">
                <a:latin typeface="Times New Roman" panose="02020603050405020304" pitchFamily="18" charset="0"/>
                <a:cs typeface="Times New Roman" panose="02020603050405020304" pitchFamily="18" charset="0"/>
              </a:rPr>
              <a:t>To create a low-cost system using a normal webcam. </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94849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DD169-41FC-907C-9387-75CD45CCEBB9}"/>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ASSUMPTIONS</a:t>
            </a:r>
          </a:p>
        </p:txBody>
      </p:sp>
      <p:sp>
        <p:nvSpPr>
          <p:cNvPr id="3" name="Content Placeholder 2">
            <a:extLst>
              <a:ext uri="{FF2B5EF4-FFF2-40B4-BE49-F238E27FC236}">
                <a16:creationId xmlns:a16="http://schemas.microsoft.com/office/drawing/2014/main" id="{AF60E8BE-1AB0-C78C-0565-01BF27EB8140}"/>
              </a:ext>
            </a:extLst>
          </p:cNvPr>
          <p:cNvSpPr>
            <a:spLocks noGrp="1"/>
          </p:cNvSpPr>
          <p:nvPr>
            <p:ph idx="1"/>
          </p:nvPr>
        </p:nvSpPr>
        <p:spPr/>
        <p:txBody>
          <a:bodyPr/>
          <a:lstStyle/>
          <a:p>
            <a:r>
              <a:rPr lang="en-US" sz="2800" dirty="0">
                <a:latin typeface="Times New Roman" panose="02020603050405020304" pitchFamily="18" charset="0"/>
                <a:cs typeface="Times New Roman" panose="02020603050405020304" pitchFamily="18" charset="0"/>
              </a:rPr>
              <a:t>Classroom has at least one working camera.</a:t>
            </a:r>
          </a:p>
          <a:p>
            <a:r>
              <a:rPr lang="en-US" sz="2800" dirty="0">
                <a:latin typeface="Times New Roman" panose="02020603050405020304" pitchFamily="18" charset="0"/>
                <a:cs typeface="Times New Roman" panose="02020603050405020304" pitchFamily="18" charset="0"/>
              </a:rPr>
              <a:t>Students’ faces are enrolled before attendance marking.</a:t>
            </a:r>
          </a:p>
          <a:p>
            <a:r>
              <a:rPr lang="en-US" sz="2800" dirty="0">
                <a:latin typeface="Times New Roman" panose="02020603050405020304" pitchFamily="18" charset="0"/>
                <a:cs typeface="Times New Roman" panose="02020603050405020304" pitchFamily="18" charset="0"/>
              </a:rPr>
              <a:t>Lighting conditions are reasonable (not completely dark).</a:t>
            </a:r>
          </a:p>
          <a:p>
            <a:r>
              <a:rPr lang="en-US" sz="2800" dirty="0">
                <a:latin typeface="Times New Roman" panose="02020603050405020304" pitchFamily="18" charset="0"/>
                <a:cs typeface="Times New Roman" panose="02020603050405020304" pitchFamily="18" charset="0"/>
              </a:rPr>
              <a:t>Students face the camera at least occasionally.</a:t>
            </a:r>
          </a:p>
          <a:p>
            <a:pPr marL="0" indent="0">
              <a:buNone/>
            </a:pPr>
            <a:endParaRPr lang="en-US" dirty="0"/>
          </a:p>
        </p:txBody>
      </p:sp>
    </p:spTree>
    <p:extLst>
      <p:ext uri="{BB962C8B-B14F-4D97-AF65-F5344CB8AC3E}">
        <p14:creationId xmlns:p14="http://schemas.microsoft.com/office/powerpoint/2010/main" val="27596816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68904-F27D-3D5E-4D50-32711449B115}"/>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55FE5B7-D2DB-4067-3199-C95888462FE5}"/>
              </a:ext>
            </a:extLst>
          </p:cNvPr>
          <p:cNvSpPr>
            <a:spLocks noGrp="1"/>
          </p:cNvSpPr>
          <p:nvPr>
            <p:ph sz="half" idx="2"/>
          </p:nvPr>
        </p:nvSpPr>
        <p:spPr/>
        <p:txBody>
          <a:bodyPr/>
          <a:lstStyle/>
          <a:p>
            <a:endParaRPr lang="en-US" dirty="0"/>
          </a:p>
        </p:txBody>
      </p:sp>
      <p:graphicFrame>
        <p:nvGraphicFramePr>
          <p:cNvPr id="11" name="Content Placeholder 10">
            <a:extLst>
              <a:ext uri="{FF2B5EF4-FFF2-40B4-BE49-F238E27FC236}">
                <a16:creationId xmlns:a16="http://schemas.microsoft.com/office/drawing/2014/main" id="{E42709F1-FE55-EAFC-60A9-0E459DFBC0B4}"/>
              </a:ext>
            </a:extLst>
          </p:cNvPr>
          <p:cNvGraphicFramePr>
            <a:graphicFrameLocks noGrp="1"/>
          </p:cNvGraphicFramePr>
          <p:nvPr>
            <p:ph sz="half" idx="1"/>
            <p:extLst>
              <p:ext uri="{D42A27DB-BD31-4B8C-83A1-F6EECF244321}">
                <p14:modId xmlns:p14="http://schemas.microsoft.com/office/powerpoint/2010/main" val="2435246976"/>
              </p:ext>
            </p:extLst>
          </p:nvPr>
        </p:nvGraphicFramePr>
        <p:xfrm>
          <a:off x="205339" y="681037"/>
          <a:ext cx="11781322" cy="5974080"/>
        </p:xfrm>
        <a:graphic>
          <a:graphicData uri="http://schemas.openxmlformats.org/drawingml/2006/table">
            <a:tbl>
              <a:tblPr firstRow="1" bandRow="1">
                <a:tableStyleId>{5C22544A-7EE6-4342-B048-85BDC9FD1C3A}</a:tableStyleId>
              </a:tblPr>
              <a:tblGrid>
                <a:gridCol w="497305">
                  <a:extLst>
                    <a:ext uri="{9D8B030D-6E8A-4147-A177-3AD203B41FA5}">
                      <a16:colId xmlns:a16="http://schemas.microsoft.com/office/drawing/2014/main" val="1460532772"/>
                    </a:ext>
                  </a:extLst>
                </a:gridCol>
                <a:gridCol w="1472398">
                  <a:extLst>
                    <a:ext uri="{9D8B030D-6E8A-4147-A177-3AD203B41FA5}">
                      <a16:colId xmlns:a16="http://schemas.microsoft.com/office/drawing/2014/main" val="1250948773"/>
                    </a:ext>
                  </a:extLst>
                </a:gridCol>
                <a:gridCol w="1645920">
                  <a:extLst>
                    <a:ext uri="{9D8B030D-6E8A-4147-A177-3AD203B41FA5}">
                      <a16:colId xmlns:a16="http://schemas.microsoft.com/office/drawing/2014/main" val="219999802"/>
                    </a:ext>
                  </a:extLst>
                </a:gridCol>
                <a:gridCol w="1678272">
                  <a:extLst>
                    <a:ext uri="{9D8B030D-6E8A-4147-A177-3AD203B41FA5}">
                      <a16:colId xmlns:a16="http://schemas.microsoft.com/office/drawing/2014/main" val="3069090585"/>
                    </a:ext>
                  </a:extLst>
                </a:gridCol>
                <a:gridCol w="3089709">
                  <a:extLst>
                    <a:ext uri="{9D8B030D-6E8A-4147-A177-3AD203B41FA5}">
                      <a16:colId xmlns:a16="http://schemas.microsoft.com/office/drawing/2014/main" val="3743310899"/>
                    </a:ext>
                  </a:extLst>
                </a:gridCol>
                <a:gridCol w="3397718">
                  <a:extLst>
                    <a:ext uri="{9D8B030D-6E8A-4147-A177-3AD203B41FA5}">
                      <a16:colId xmlns:a16="http://schemas.microsoft.com/office/drawing/2014/main" val="424521533"/>
                    </a:ext>
                  </a:extLst>
                </a:gridCol>
              </a:tblGrid>
              <a:tr h="0">
                <a:tc>
                  <a:txBody>
                    <a:bodyPr/>
                    <a:lstStyle/>
                    <a:p>
                      <a:r>
                        <a:rPr lang="en-US" sz="1600" dirty="0">
                          <a:latin typeface="Times New Roman" panose="02020603050405020304" pitchFamily="18" charset="0"/>
                          <a:cs typeface="Times New Roman" panose="02020603050405020304" pitchFamily="18" charset="0"/>
                        </a:rPr>
                        <a:t>S.NO</a:t>
                      </a:r>
                    </a:p>
                  </a:txBody>
                  <a:tcPr/>
                </a:tc>
                <a:tc>
                  <a:txBody>
                    <a:bodyPr/>
                    <a:lstStyle/>
                    <a:p>
                      <a:r>
                        <a:rPr lang="en-US" sz="1600" dirty="0">
                          <a:latin typeface="Times New Roman" panose="02020603050405020304" pitchFamily="18" charset="0"/>
                          <a:cs typeface="Times New Roman" panose="02020603050405020304" pitchFamily="18" charset="0"/>
                        </a:rPr>
                        <a:t>Author(s)</a:t>
                      </a:r>
                    </a:p>
                  </a:txBody>
                  <a:tcPr/>
                </a:tc>
                <a:tc>
                  <a:txBody>
                    <a:bodyPr/>
                    <a:lstStyle/>
                    <a:p>
                      <a:r>
                        <a:rPr lang="en-US" sz="1600" dirty="0">
                          <a:latin typeface="Times New Roman" panose="02020603050405020304" pitchFamily="18" charset="0"/>
                          <a:cs typeface="Times New Roman" panose="02020603050405020304" pitchFamily="18" charset="0"/>
                        </a:rPr>
                        <a:t>Title</a:t>
                      </a:r>
                    </a:p>
                  </a:txBody>
                  <a:tcPr/>
                </a:tc>
                <a:tc>
                  <a:txBody>
                    <a:bodyPr/>
                    <a:lstStyle/>
                    <a:p>
                      <a:r>
                        <a:rPr lang="en-US" sz="1600" dirty="0">
                          <a:latin typeface="Times New Roman" panose="02020603050405020304" pitchFamily="18" charset="0"/>
                          <a:cs typeface="Times New Roman" panose="02020603050405020304" pitchFamily="18" charset="0"/>
                        </a:rPr>
                        <a:t>Publisher /</a:t>
                      </a:r>
                    </a:p>
                    <a:p>
                      <a:r>
                        <a:rPr lang="en-US" sz="1600" dirty="0">
                          <a:latin typeface="Times New Roman" panose="02020603050405020304" pitchFamily="18" charset="0"/>
                          <a:cs typeface="Times New Roman" panose="02020603050405020304" pitchFamily="18" charset="0"/>
                        </a:rPr>
                        <a:t>Journal</a:t>
                      </a:r>
                    </a:p>
                  </a:txBody>
                  <a:tcPr/>
                </a:tc>
                <a:tc>
                  <a:txBody>
                    <a:bodyPr/>
                    <a:lstStyle/>
                    <a:p>
                      <a:r>
                        <a:rPr lang="en-US" sz="1600" dirty="0">
                          <a:latin typeface="Times New Roman" panose="02020603050405020304" pitchFamily="18" charset="0"/>
                          <a:cs typeface="Times New Roman" panose="02020603050405020304" pitchFamily="18" charset="0"/>
                        </a:rPr>
                        <a:t>Limitations</a:t>
                      </a:r>
                    </a:p>
                  </a:txBody>
                  <a:tcPr/>
                </a:tc>
                <a:tc>
                  <a:txBody>
                    <a:bodyPr/>
                    <a:lstStyle/>
                    <a:p>
                      <a:r>
                        <a:rPr lang="en-US" sz="1600" dirty="0">
                          <a:latin typeface="Times New Roman" panose="02020603050405020304" pitchFamily="18" charset="0"/>
                          <a:cs typeface="Times New Roman" panose="02020603050405020304" pitchFamily="18" charset="0"/>
                        </a:rPr>
                        <a:t>Future Work</a:t>
                      </a:r>
                    </a:p>
                  </a:txBody>
                  <a:tcPr/>
                </a:tc>
                <a:extLst>
                  <a:ext uri="{0D108BD9-81ED-4DB2-BD59-A6C34878D82A}">
                    <a16:rowId xmlns:a16="http://schemas.microsoft.com/office/drawing/2014/main" val="3012044709"/>
                  </a:ext>
                </a:extLst>
              </a:tr>
              <a:tr h="0">
                <a:tc>
                  <a:txBody>
                    <a:bodyPr/>
                    <a:lstStyle/>
                    <a:p>
                      <a:r>
                        <a:rPr lang="en-US" sz="1600" dirty="0">
                          <a:latin typeface="Times New Roman" panose="02020603050405020304" pitchFamily="18" charset="0"/>
                          <a:cs typeface="Times New Roman" panose="02020603050405020304" pitchFamily="18" charset="0"/>
                        </a:rPr>
                        <a:t>1.</a:t>
                      </a:r>
                    </a:p>
                  </a:txBody>
                  <a:tcPr/>
                </a:tc>
                <a:tc>
                  <a:txBody>
                    <a:bodyPr/>
                    <a:lstStyle/>
                    <a:p>
                      <a:r>
                        <a:rPr lang="it-IT" sz="1600" dirty="0">
                          <a:latin typeface="Times New Roman" panose="02020603050405020304" pitchFamily="18" charset="0"/>
                          <a:cs typeface="Times New Roman" panose="02020603050405020304" pitchFamily="18" charset="0"/>
                        </a:rPr>
                        <a:t>Trio Adiono,</a:t>
                      </a:r>
                    </a:p>
                    <a:p>
                      <a:r>
                        <a:rPr lang="it-IT" sz="1600" dirty="0">
                          <a:latin typeface="Times New Roman" panose="02020603050405020304" pitchFamily="18" charset="0"/>
                          <a:cs typeface="Times New Roman" panose="02020603050405020304" pitchFamily="18" charset="0"/>
                        </a:rPr>
                        <a:t>Didi Setiawan,</a:t>
                      </a:r>
                    </a:p>
                    <a:p>
                      <a:r>
                        <a:rPr lang="it-IT" sz="1600" dirty="0">
                          <a:latin typeface="Times New Roman" panose="02020603050405020304" pitchFamily="18" charset="0"/>
                          <a:cs typeface="Times New Roman" panose="02020603050405020304" pitchFamily="18" charset="0"/>
                        </a:rPr>
                        <a:t>Maurizfa,</a:t>
                      </a:r>
                    </a:p>
                    <a:p>
                      <a:r>
                        <a:rPr lang="it-IT" sz="1600" dirty="0">
                          <a:latin typeface="Times New Roman" panose="02020603050405020304" pitchFamily="18" charset="0"/>
                          <a:cs typeface="Times New Roman" panose="02020603050405020304" pitchFamily="18" charset="0"/>
                        </a:rPr>
                        <a:t>Jason William,</a:t>
                      </a:r>
                    </a:p>
                    <a:p>
                      <a:r>
                        <a:rPr lang="it-IT" sz="1600" dirty="0">
                          <a:latin typeface="Times New Roman" panose="02020603050405020304" pitchFamily="18" charset="0"/>
                          <a:cs typeface="Times New Roman" panose="02020603050405020304" pitchFamily="18" charset="0"/>
                        </a:rPr>
                        <a:t>Nana Sutisna</a:t>
                      </a:r>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Cloud Based</a:t>
                      </a:r>
                    </a:p>
                    <a:p>
                      <a:r>
                        <a:rPr lang="en-US" sz="1600" dirty="0">
                          <a:latin typeface="Times New Roman" panose="02020603050405020304" pitchFamily="18" charset="0"/>
                          <a:cs typeface="Times New Roman" panose="02020603050405020304" pitchFamily="18" charset="0"/>
                        </a:rPr>
                        <a:t>User Interface</a:t>
                      </a:r>
                    </a:p>
                    <a:p>
                      <a:r>
                        <a:rPr lang="en-US" sz="1600" dirty="0">
                          <a:latin typeface="Times New Roman" panose="02020603050405020304" pitchFamily="18" charset="0"/>
                          <a:cs typeface="Times New Roman" panose="02020603050405020304" pitchFamily="18" charset="0"/>
                        </a:rPr>
                        <a:t>Design for Smart</a:t>
                      </a:r>
                    </a:p>
                    <a:p>
                      <a:r>
                        <a:rPr lang="en-US" sz="1600" dirty="0">
                          <a:latin typeface="Times New Roman" panose="02020603050405020304" pitchFamily="18" charset="0"/>
                          <a:cs typeface="Times New Roman" panose="02020603050405020304" pitchFamily="18" charset="0"/>
                        </a:rPr>
                        <a:t>Student Attendance</a:t>
                      </a:r>
                    </a:p>
                    <a:p>
                      <a:r>
                        <a:rPr lang="en-US" sz="1600" dirty="0">
                          <a:latin typeface="Times New Roman" panose="02020603050405020304" pitchFamily="18" charset="0"/>
                          <a:cs typeface="Times New Roman" panose="02020603050405020304" pitchFamily="18" charset="0"/>
                        </a:rPr>
                        <a:t>System (2021)</a:t>
                      </a:r>
                    </a:p>
                    <a:p>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International</a:t>
                      </a:r>
                    </a:p>
                    <a:p>
                      <a:r>
                        <a:rPr lang="en-US" sz="1600" dirty="0">
                          <a:latin typeface="Times New Roman" panose="02020603050405020304" pitchFamily="18" charset="0"/>
                          <a:cs typeface="Times New Roman" panose="02020603050405020304" pitchFamily="18" charset="0"/>
                        </a:rPr>
                        <a:t>Symposium on</a:t>
                      </a:r>
                    </a:p>
                    <a:p>
                      <a:r>
                        <a:rPr lang="en-US" sz="1600" dirty="0">
                          <a:latin typeface="Times New Roman" panose="02020603050405020304" pitchFamily="18" charset="0"/>
                          <a:cs typeface="Times New Roman" panose="02020603050405020304" pitchFamily="18" charset="0"/>
                        </a:rPr>
                        <a:t>Electronics and </a:t>
                      </a:r>
                    </a:p>
                    <a:p>
                      <a:r>
                        <a:rPr lang="en-US" sz="1600" dirty="0">
                          <a:latin typeface="Times New Roman" panose="02020603050405020304" pitchFamily="18" charset="0"/>
                          <a:cs typeface="Times New Roman" panose="02020603050405020304" pitchFamily="18" charset="0"/>
                        </a:rPr>
                        <a:t>Smart Devices</a:t>
                      </a: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Requires physical contact and special hardware. Depends on internet and cloud storage. Limited </a:t>
                      </a:r>
                    </a:p>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to fingerprint authentication only </a:t>
                      </a:r>
                    </a:p>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and may give false negatives. No predictive analytics or anomaly detection</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Add predictive analytics, multi</a:t>
                      </a:r>
                    </a:p>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-factor authentication, mobile</a:t>
                      </a:r>
                    </a:p>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 app support, LMS integration, </a:t>
                      </a:r>
                    </a:p>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automated alerts, and </a:t>
                      </a:r>
                    </a:p>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offline data caching</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65888017"/>
                  </a:ext>
                </a:extLst>
              </a:tr>
              <a:tr h="1492231">
                <a:tc>
                  <a:txBody>
                    <a:bodyPr/>
                    <a:lstStyle/>
                    <a:p>
                      <a:r>
                        <a:rPr lang="en-US" sz="1600" dirty="0">
                          <a:latin typeface="Times New Roman" panose="02020603050405020304" pitchFamily="18" charset="0"/>
                          <a:cs typeface="Times New Roman" panose="02020603050405020304" pitchFamily="18" charset="0"/>
                        </a:rPr>
                        <a:t>2.</a:t>
                      </a:r>
                    </a:p>
                  </a:txBody>
                  <a:tcPr/>
                </a:tc>
                <a:tc>
                  <a:txBody>
                    <a:bodyPr/>
                    <a:lstStyle/>
                    <a:p>
                      <a:r>
                        <a:rPr lang="sv-SE" sz="1600" dirty="0">
                          <a:latin typeface="Times New Roman" panose="02020603050405020304" pitchFamily="18" charset="0"/>
                          <a:cs typeface="Times New Roman" panose="02020603050405020304" pitchFamily="18" charset="0"/>
                        </a:rPr>
                        <a:t>ShilpaMangesh</a:t>
                      </a:r>
                    </a:p>
                    <a:p>
                      <a:r>
                        <a:rPr lang="sv-SE" sz="1600" dirty="0">
                          <a:latin typeface="Times New Roman" panose="02020603050405020304" pitchFamily="18" charset="0"/>
                          <a:cs typeface="Times New Roman" panose="02020603050405020304" pitchFamily="18" charset="0"/>
                        </a:rPr>
                        <a:t>Pande,Subhassini Sridharan,</a:t>
                      </a:r>
                    </a:p>
                    <a:p>
                      <a:r>
                        <a:rPr lang="sv-SE" sz="1600" dirty="0">
                          <a:latin typeface="Times New Roman" panose="02020603050405020304" pitchFamily="18" charset="0"/>
                          <a:cs typeface="Times New Roman" panose="02020603050405020304" pitchFamily="18" charset="0"/>
                        </a:rPr>
                        <a:t>Swastik Raj</a:t>
                      </a:r>
                    </a:p>
                    <a:p>
                      <a:r>
                        <a:rPr lang="sv-SE" sz="1600" dirty="0">
                          <a:latin typeface="Times New Roman" panose="02020603050405020304" pitchFamily="18" charset="0"/>
                          <a:cs typeface="Times New Roman" panose="02020603050405020304" pitchFamily="18" charset="0"/>
                        </a:rPr>
                        <a:t>Singh</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Smart Attendance</a:t>
                      </a:r>
                    </a:p>
                    <a:p>
                      <a:r>
                        <a:rPr lang="en-US" sz="1600" dirty="0">
                          <a:latin typeface="Times New Roman" panose="02020603050405020304" pitchFamily="18" charset="0"/>
                          <a:cs typeface="Times New Roman" panose="02020603050405020304" pitchFamily="18" charset="0"/>
                        </a:rPr>
                        <a:t>And Attention</a:t>
                      </a:r>
                    </a:p>
                    <a:p>
                      <a:r>
                        <a:rPr lang="en-US" sz="1600" dirty="0">
                          <a:latin typeface="Times New Roman" panose="02020603050405020304" pitchFamily="18" charset="0"/>
                          <a:cs typeface="Times New Roman" panose="02020603050405020304" pitchFamily="18" charset="0"/>
                        </a:rPr>
                        <a:t>Monitoring System(2023)</a:t>
                      </a:r>
                    </a:p>
                  </a:txBody>
                  <a:tcPr/>
                </a:tc>
                <a:tc>
                  <a:txBody>
                    <a:bodyPr/>
                    <a:lstStyle/>
                    <a:p>
                      <a:r>
                        <a:rPr lang="en-US" sz="1600" dirty="0">
                          <a:latin typeface="Times New Roman" panose="02020603050405020304" pitchFamily="18" charset="0"/>
                          <a:cs typeface="Times New Roman" panose="02020603050405020304" pitchFamily="18" charset="0"/>
                        </a:rPr>
                        <a:t>14</a:t>
                      </a:r>
                      <a:r>
                        <a:rPr lang="en-US" sz="1600" baseline="30000" dirty="0">
                          <a:latin typeface="Times New Roman" panose="02020603050405020304" pitchFamily="18" charset="0"/>
                          <a:cs typeface="Times New Roman" panose="02020603050405020304" pitchFamily="18" charset="0"/>
                        </a:rPr>
                        <a:t>th</a:t>
                      </a:r>
                      <a:r>
                        <a:rPr lang="en-US" sz="1600" dirty="0">
                          <a:latin typeface="Times New Roman" panose="02020603050405020304" pitchFamily="18" charset="0"/>
                          <a:cs typeface="Times New Roman" panose="02020603050405020304" pitchFamily="18" charset="0"/>
                        </a:rPr>
                        <a:t> International</a:t>
                      </a:r>
                    </a:p>
                    <a:p>
                      <a:r>
                        <a:rPr lang="en-US" sz="1600" dirty="0">
                          <a:latin typeface="Times New Roman" panose="02020603050405020304" pitchFamily="18" charset="0"/>
                          <a:cs typeface="Times New Roman" panose="02020603050405020304" pitchFamily="18" charset="0"/>
                        </a:rPr>
                        <a:t>Conference on</a:t>
                      </a:r>
                    </a:p>
                    <a:p>
                      <a:r>
                        <a:rPr lang="en-US" sz="1600" dirty="0">
                          <a:latin typeface="Times New Roman" panose="02020603050405020304" pitchFamily="18" charset="0"/>
                          <a:cs typeface="Times New Roman" panose="02020603050405020304" pitchFamily="18" charset="0"/>
                        </a:rPr>
                        <a:t>Computing</a:t>
                      </a:r>
                    </a:p>
                    <a:p>
                      <a:r>
                        <a:rPr lang="en-US" sz="1600" dirty="0">
                          <a:latin typeface="Times New Roman" panose="02020603050405020304" pitchFamily="18" charset="0"/>
                          <a:cs typeface="Times New Roman" panose="02020603050405020304" pitchFamily="18" charset="0"/>
                        </a:rPr>
                        <a:t>Communication </a:t>
                      </a:r>
                    </a:p>
                    <a:p>
                      <a:r>
                        <a:rPr lang="en-US" sz="1600" dirty="0">
                          <a:latin typeface="Times New Roman" panose="02020603050405020304" pitchFamily="18" charset="0"/>
                          <a:cs typeface="Times New Roman" panose="02020603050405020304" pitchFamily="18" charset="0"/>
                        </a:rPr>
                        <a:t>and Networking</a:t>
                      </a:r>
                    </a:p>
                    <a:p>
                      <a:r>
                        <a:rPr lang="en-US" sz="1600" dirty="0">
                          <a:latin typeface="Times New Roman" panose="02020603050405020304" pitchFamily="18" charset="0"/>
                          <a:cs typeface="Times New Roman" panose="02020603050405020304" pitchFamily="18" charset="0"/>
                        </a:rPr>
                        <a:t>Technologies</a:t>
                      </a:r>
                    </a:p>
                  </a:txBody>
                  <a:tcPr/>
                </a:tc>
                <a:tc>
                  <a:txBody>
                    <a:bodyPr/>
                    <a:lstStyle/>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Requires high computational power. Accuracy depends on lighting and frontal face position (30° limit). Affected by shadows and occlusions. Needs CCTV installation and raises privacy concerns.</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In the future, the system can </a:t>
                      </a:r>
                    </a:p>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include student gesture analysis to </a:t>
                      </a:r>
                    </a:p>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improve teaching support. </a:t>
                      </a:r>
                    </a:p>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Recognition speed can be improved</a:t>
                      </a:r>
                    </a:p>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 for facial changes like beards or head coverings. The angular detection </a:t>
                      </a:r>
                    </a:p>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range can be increased beyond 30°..</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72735860"/>
                  </a:ext>
                </a:extLst>
              </a:tr>
              <a:tr h="1210290">
                <a:tc>
                  <a:txBody>
                    <a:bodyPr/>
                    <a:lstStyle/>
                    <a:p>
                      <a:r>
                        <a:rPr lang="en-US" sz="1600" dirty="0">
                          <a:latin typeface="Times New Roman" panose="02020603050405020304" pitchFamily="18" charset="0"/>
                          <a:cs typeface="Times New Roman" panose="02020603050405020304" pitchFamily="18" charset="0"/>
                        </a:rPr>
                        <a:t>3.</a:t>
                      </a:r>
                    </a:p>
                  </a:txBody>
                  <a:tcPr/>
                </a:tc>
                <a:tc>
                  <a:txBody>
                    <a:bodyPr/>
                    <a:lstStyle/>
                    <a:p>
                      <a:r>
                        <a:rPr lang="pt-BR" sz="1600" dirty="0">
                          <a:latin typeface="Times New Roman" panose="02020603050405020304" pitchFamily="18" charset="0"/>
                          <a:cs typeface="Times New Roman" panose="02020603050405020304" pitchFamily="18" charset="0"/>
                        </a:rPr>
                        <a:t>G Rajesh, N</a:t>
                      </a:r>
                    </a:p>
                    <a:p>
                      <a:r>
                        <a:rPr lang="pt-BR" sz="1600" dirty="0">
                          <a:latin typeface="Times New Roman" panose="02020603050405020304" pitchFamily="18" charset="0"/>
                          <a:cs typeface="Times New Roman" panose="02020603050405020304" pitchFamily="18" charset="0"/>
                        </a:rPr>
                        <a:t>Sairam, M</a:t>
                      </a:r>
                    </a:p>
                    <a:p>
                      <a:r>
                        <a:rPr lang="pt-BR" sz="1600" dirty="0">
                          <a:latin typeface="Times New Roman" panose="02020603050405020304" pitchFamily="18" charset="0"/>
                          <a:cs typeface="Times New Roman" panose="02020603050405020304" pitchFamily="18" charset="0"/>
                        </a:rPr>
                        <a:t>Praveen</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Smart Attendance</a:t>
                      </a:r>
                    </a:p>
                    <a:p>
                      <a:r>
                        <a:rPr lang="en-US" sz="1600" dirty="0">
                          <a:latin typeface="Times New Roman" panose="02020603050405020304" pitchFamily="18" charset="0"/>
                          <a:cs typeface="Times New Roman" panose="02020603050405020304" pitchFamily="18" charset="0"/>
                        </a:rPr>
                        <a:t>Registration and</a:t>
                      </a:r>
                    </a:p>
                    <a:p>
                      <a:r>
                        <a:rPr lang="en-US" sz="1600" dirty="0">
                          <a:latin typeface="Times New Roman" panose="02020603050405020304" pitchFamily="18" charset="0"/>
                          <a:cs typeface="Times New Roman" panose="02020603050405020304" pitchFamily="18" charset="0"/>
                        </a:rPr>
                        <a:t>Management System</a:t>
                      </a:r>
                    </a:p>
                    <a:p>
                      <a:r>
                        <a:rPr lang="en-US" sz="1600" dirty="0">
                          <a:latin typeface="Times New Roman" panose="02020603050405020304" pitchFamily="18" charset="0"/>
                          <a:cs typeface="Times New Roman" panose="02020603050405020304" pitchFamily="18" charset="0"/>
                        </a:rPr>
                        <a:t>through AI(2023)</a:t>
                      </a:r>
                    </a:p>
                  </a:txBody>
                  <a:tcPr/>
                </a:tc>
                <a:tc>
                  <a:txBody>
                    <a:bodyPr/>
                    <a:lstStyle/>
                    <a:p>
                      <a:r>
                        <a:rPr lang="en-US" sz="1600" dirty="0">
                          <a:latin typeface="Times New Roman" panose="02020603050405020304" pitchFamily="18" charset="0"/>
                          <a:cs typeface="Times New Roman" panose="02020603050405020304" pitchFamily="18" charset="0"/>
                        </a:rPr>
                        <a:t>2</a:t>
                      </a:r>
                      <a:r>
                        <a:rPr lang="en-US" sz="1600" baseline="30000" dirty="0">
                          <a:latin typeface="Times New Roman" panose="02020603050405020304" pitchFamily="18" charset="0"/>
                          <a:cs typeface="Times New Roman" panose="02020603050405020304" pitchFamily="18" charset="0"/>
                        </a:rPr>
                        <a:t>nd</a:t>
                      </a:r>
                      <a:r>
                        <a:rPr lang="en-US" sz="1600" dirty="0">
                          <a:latin typeface="Times New Roman" panose="02020603050405020304" pitchFamily="18" charset="0"/>
                          <a:cs typeface="Times New Roman" panose="02020603050405020304" pitchFamily="18" charset="0"/>
                        </a:rPr>
                        <a:t> International</a:t>
                      </a:r>
                    </a:p>
                    <a:p>
                      <a:r>
                        <a:rPr lang="en-US" sz="1600" dirty="0">
                          <a:latin typeface="Times New Roman" panose="02020603050405020304" pitchFamily="18" charset="0"/>
                          <a:cs typeface="Times New Roman" panose="02020603050405020304" pitchFamily="18" charset="0"/>
                        </a:rPr>
                        <a:t>Conference on</a:t>
                      </a:r>
                    </a:p>
                    <a:p>
                      <a:r>
                        <a:rPr lang="en-US" sz="1600" dirty="0">
                          <a:latin typeface="Times New Roman" panose="02020603050405020304" pitchFamily="18" charset="0"/>
                          <a:cs typeface="Times New Roman" panose="02020603050405020304" pitchFamily="18" charset="0"/>
                        </a:rPr>
                        <a:t>Automation,</a:t>
                      </a:r>
                    </a:p>
                    <a:p>
                      <a:r>
                        <a:rPr lang="en-US" sz="1600" dirty="0">
                          <a:latin typeface="Times New Roman" panose="02020603050405020304" pitchFamily="18" charset="0"/>
                          <a:cs typeface="Times New Roman" panose="02020603050405020304" pitchFamily="18" charset="0"/>
                        </a:rPr>
                        <a:t>Computing and</a:t>
                      </a:r>
                    </a:p>
                    <a:p>
                      <a:r>
                        <a:rPr lang="en-US" sz="1600" dirty="0">
                          <a:latin typeface="Times New Roman" panose="02020603050405020304" pitchFamily="18" charset="0"/>
                          <a:cs typeface="Times New Roman" panose="02020603050405020304" pitchFamily="18" charset="0"/>
                        </a:rPr>
                        <a:t>Renewable </a:t>
                      </a:r>
                    </a:p>
                    <a:p>
                      <a:r>
                        <a:rPr lang="en-US" sz="1600" dirty="0">
                          <a:latin typeface="Times New Roman" panose="02020603050405020304" pitchFamily="18" charset="0"/>
                          <a:cs typeface="Times New Roman" panose="02020603050405020304" pitchFamily="18" charset="0"/>
                        </a:rPr>
                        <a:t>Systems</a:t>
                      </a:r>
                    </a:p>
                    <a:p>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The system accuracy depends </a:t>
                      </a:r>
                    </a:p>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on image quality and lighting</a:t>
                      </a:r>
                    </a:p>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conditions. It has limited testing </a:t>
                      </a:r>
                    </a:p>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on large datasets and requires </a:t>
                      </a:r>
                    </a:p>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high-quality cameras. The SIANN</a:t>
                      </a:r>
                    </a:p>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model has high computational </a:t>
                      </a:r>
                    </a:p>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complexity. </a:t>
                      </a:r>
                    </a:p>
                  </a:txBody>
                  <a:tcPr/>
                </a:tc>
                <a:tc>
                  <a:txBody>
                    <a:bodyPr/>
                    <a:lstStyle/>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In the future, the system can improve statistical analysis and automatic </a:t>
                      </a:r>
                    </a:p>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duplicate removal. It can be </a:t>
                      </a:r>
                    </a:p>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expanded for large institutions and integrated with ERP systems. A mobile app, cloud storage, and real-time notification system can also be added.</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10882985"/>
                  </a:ext>
                </a:extLst>
              </a:tr>
            </a:tbl>
          </a:graphicData>
        </a:graphic>
      </p:graphicFrame>
      <p:sp>
        <p:nvSpPr>
          <p:cNvPr id="3" name="TextBox 2">
            <a:extLst>
              <a:ext uri="{FF2B5EF4-FFF2-40B4-BE49-F238E27FC236}">
                <a16:creationId xmlns:a16="http://schemas.microsoft.com/office/drawing/2014/main" id="{B550047A-8A91-C982-2428-FEC48D2C8582}"/>
              </a:ext>
            </a:extLst>
          </p:cNvPr>
          <p:cNvSpPr txBox="1"/>
          <p:nvPr/>
        </p:nvSpPr>
        <p:spPr>
          <a:xfrm>
            <a:off x="205339" y="96262"/>
            <a:ext cx="7382577"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3640947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17CCFF17-D221-B2FD-82D7-FDAB0E50BB1D}"/>
              </a:ext>
            </a:extLst>
          </p:cNvPr>
          <p:cNvGraphicFramePr>
            <a:graphicFrameLocks noGrp="1"/>
          </p:cNvGraphicFramePr>
          <p:nvPr>
            <p:extLst>
              <p:ext uri="{D42A27DB-BD31-4B8C-83A1-F6EECF244321}">
                <p14:modId xmlns:p14="http://schemas.microsoft.com/office/powerpoint/2010/main" val="1760724844"/>
              </p:ext>
            </p:extLst>
          </p:nvPr>
        </p:nvGraphicFramePr>
        <p:xfrm>
          <a:off x="291699" y="479034"/>
          <a:ext cx="11608602" cy="5486400"/>
        </p:xfrm>
        <a:graphic>
          <a:graphicData uri="http://schemas.openxmlformats.org/drawingml/2006/table">
            <a:tbl>
              <a:tblPr firstRow="1" bandRow="1">
                <a:tableStyleId>{5C22544A-7EE6-4342-B048-85BDC9FD1C3A}</a:tableStyleId>
              </a:tblPr>
              <a:tblGrid>
                <a:gridCol w="404216">
                  <a:extLst>
                    <a:ext uri="{9D8B030D-6E8A-4147-A177-3AD203B41FA5}">
                      <a16:colId xmlns:a16="http://schemas.microsoft.com/office/drawing/2014/main" val="3058475089"/>
                    </a:ext>
                  </a:extLst>
                </a:gridCol>
                <a:gridCol w="1511746">
                  <a:extLst>
                    <a:ext uri="{9D8B030D-6E8A-4147-A177-3AD203B41FA5}">
                      <a16:colId xmlns:a16="http://schemas.microsoft.com/office/drawing/2014/main" val="2988121623"/>
                    </a:ext>
                  </a:extLst>
                </a:gridCol>
                <a:gridCol w="1607419">
                  <a:extLst>
                    <a:ext uri="{9D8B030D-6E8A-4147-A177-3AD203B41FA5}">
                      <a16:colId xmlns:a16="http://schemas.microsoft.com/office/drawing/2014/main" val="777610070"/>
                    </a:ext>
                  </a:extLst>
                </a:gridCol>
                <a:gridCol w="1751798">
                  <a:extLst>
                    <a:ext uri="{9D8B030D-6E8A-4147-A177-3AD203B41FA5}">
                      <a16:colId xmlns:a16="http://schemas.microsoft.com/office/drawing/2014/main" val="3512530969"/>
                    </a:ext>
                  </a:extLst>
                </a:gridCol>
                <a:gridCol w="3628724">
                  <a:extLst>
                    <a:ext uri="{9D8B030D-6E8A-4147-A177-3AD203B41FA5}">
                      <a16:colId xmlns:a16="http://schemas.microsoft.com/office/drawing/2014/main" val="1620962805"/>
                    </a:ext>
                  </a:extLst>
                </a:gridCol>
                <a:gridCol w="2704699">
                  <a:extLst>
                    <a:ext uri="{9D8B030D-6E8A-4147-A177-3AD203B41FA5}">
                      <a16:colId xmlns:a16="http://schemas.microsoft.com/office/drawing/2014/main" val="1504536719"/>
                    </a:ext>
                  </a:extLst>
                </a:gridCol>
              </a:tblGrid>
              <a:tr h="0">
                <a:tc>
                  <a:txBody>
                    <a:bodyPr/>
                    <a:lstStyle/>
                    <a:p>
                      <a:r>
                        <a:rPr lang="en-US" dirty="0"/>
                        <a:t>S.NO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Author(s)</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Title</a:t>
                      </a:r>
                    </a:p>
                    <a:p>
                      <a:endParaRPr lang="en-US" dirty="0"/>
                    </a:p>
                  </a:txBody>
                  <a:tcPr/>
                </a:tc>
                <a:tc>
                  <a:txBody>
                    <a:bodyPr/>
                    <a:lstStyle/>
                    <a:p>
                      <a:r>
                        <a:rPr lang="en-US" sz="1800" dirty="0">
                          <a:latin typeface="Times New Roman" panose="02020603050405020304" pitchFamily="18" charset="0"/>
                          <a:cs typeface="Times New Roman" panose="02020603050405020304" pitchFamily="18" charset="0"/>
                        </a:rPr>
                        <a:t>Publisher /</a:t>
                      </a:r>
                    </a:p>
                    <a:p>
                      <a:r>
                        <a:rPr lang="en-US" sz="1800" dirty="0">
                          <a:latin typeface="Times New Roman" panose="02020603050405020304" pitchFamily="18" charset="0"/>
                          <a:cs typeface="Times New Roman" panose="02020603050405020304" pitchFamily="18" charset="0"/>
                        </a:rPr>
                        <a:t>Journal</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Limitations</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Future Work</a:t>
                      </a:r>
                    </a:p>
                    <a:p>
                      <a:endParaRPr lang="en-US" dirty="0"/>
                    </a:p>
                  </a:txBody>
                  <a:tcPr/>
                </a:tc>
                <a:extLst>
                  <a:ext uri="{0D108BD9-81ED-4DB2-BD59-A6C34878D82A}">
                    <a16:rowId xmlns:a16="http://schemas.microsoft.com/office/drawing/2014/main" val="3123903138"/>
                  </a:ext>
                </a:extLst>
              </a:tr>
              <a:tr h="530578">
                <a:tc>
                  <a:txBody>
                    <a:bodyPr/>
                    <a:lstStyle/>
                    <a:p>
                      <a:r>
                        <a:rPr lang="en-US" sz="1600" dirty="0">
                          <a:latin typeface="Times New Roman" panose="02020603050405020304" pitchFamily="18" charset="0"/>
                          <a:cs typeface="Times New Roman" panose="02020603050405020304" pitchFamily="18" charset="0"/>
                        </a:rPr>
                        <a:t>4.</a:t>
                      </a:r>
                    </a:p>
                  </a:txBody>
                  <a:tcPr/>
                </a:tc>
                <a:tc>
                  <a:txBody>
                    <a:bodyPr/>
                    <a:lstStyle/>
                    <a:p>
                      <a:r>
                        <a:rPr lang="en-US" sz="1600" dirty="0" err="1">
                          <a:latin typeface="Times New Roman" panose="02020603050405020304" pitchFamily="18" charset="0"/>
                          <a:cs typeface="Times New Roman" panose="02020603050405020304" pitchFamily="18" charset="0"/>
                        </a:rPr>
                        <a:t>AsheshKumar</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Manpreet</a:t>
                      </a:r>
                    </a:p>
                    <a:p>
                      <a:r>
                        <a:rPr lang="en-US" sz="1600" dirty="0" err="1">
                          <a:latin typeface="Times New Roman" panose="02020603050405020304" pitchFamily="18" charset="0"/>
                          <a:cs typeface="Times New Roman" panose="02020603050405020304" pitchFamily="18" charset="0"/>
                        </a:rPr>
                        <a:t>Singh,Saluja</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Sumitra</a:t>
                      </a:r>
                    </a:p>
                    <a:p>
                      <a:r>
                        <a:rPr lang="en-US" sz="1600" dirty="0" err="1">
                          <a:latin typeface="Times New Roman" panose="02020603050405020304" pitchFamily="18" charset="0"/>
                          <a:cs typeface="Times New Roman" panose="02020603050405020304" pitchFamily="18" charset="0"/>
                        </a:rPr>
                        <a:t>Samal,Aaryan</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Tiwari</a:t>
                      </a:r>
                    </a:p>
                  </a:txBody>
                  <a:tcPr/>
                </a:tc>
                <a:tc>
                  <a:txBody>
                    <a:bodyPr/>
                    <a:lstStyle/>
                    <a:p>
                      <a:pPr algn="l"/>
                      <a:r>
                        <a:rPr lang="en-US" sz="1600" dirty="0">
                          <a:latin typeface="Times New Roman" panose="02020603050405020304" pitchFamily="18" charset="0"/>
                          <a:cs typeface="Times New Roman" panose="02020603050405020304" pitchFamily="18" charset="0"/>
                        </a:rPr>
                        <a:t>Automated</a:t>
                      </a:r>
                    </a:p>
                    <a:p>
                      <a:pPr algn="l"/>
                      <a:r>
                        <a:rPr lang="en-US" sz="1600" dirty="0">
                          <a:latin typeface="Times New Roman" panose="02020603050405020304" pitchFamily="18" charset="0"/>
                          <a:cs typeface="Times New Roman" panose="02020603050405020304" pitchFamily="18" charset="0"/>
                        </a:rPr>
                        <a:t>Attendance System</a:t>
                      </a:r>
                    </a:p>
                    <a:p>
                      <a:pPr algn="l"/>
                      <a:r>
                        <a:rPr lang="en-US" sz="1600" dirty="0">
                          <a:latin typeface="Times New Roman" panose="02020603050405020304" pitchFamily="18" charset="0"/>
                          <a:cs typeface="Times New Roman" panose="02020603050405020304" pitchFamily="18" charset="0"/>
                        </a:rPr>
                        <a:t>Based on Face</a:t>
                      </a:r>
                    </a:p>
                    <a:p>
                      <a:pPr algn="l"/>
                      <a:r>
                        <a:rPr lang="en-US" sz="1600" dirty="0">
                          <a:latin typeface="Times New Roman" panose="02020603050405020304" pitchFamily="18" charset="0"/>
                          <a:cs typeface="Times New Roman" panose="02020603050405020304" pitchFamily="18" charset="0"/>
                        </a:rPr>
                        <a:t>Recognition Using</a:t>
                      </a:r>
                    </a:p>
                    <a:p>
                      <a:pPr algn="l"/>
                      <a:r>
                        <a:rPr lang="en-US" sz="1600" dirty="0">
                          <a:latin typeface="Times New Roman" panose="02020603050405020304" pitchFamily="18" charset="0"/>
                          <a:cs typeface="Times New Roman" panose="02020603050405020304" pitchFamily="18" charset="0"/>
                        </a:rPr>
                        <a:t>OpenCV(2023)</a:t>
                      </a:r>
                    </a:p>
                  </a:txBody>
                  <a:tcPr/>
                </a:tc>
                <a:tc>
                  <a:txBody>
                    <a:bodyPr/>
                    <a:lstStyle/>
                    <a:p>
                      <a:r>
                        <a:rPr lang="en-US" sz="1600" dirty="0">
                          <a:latin typeface="Times New Roman" panose="02020603050405020304" pitchFamily="18" charset="0"/>
                          <a:cs typeface="Times New Roman" panose="02020603050405020304" pitchFamily="18" charset="0"/>
                        </a:rPr>
                        <a:t>9thInternational</a:t>
                      </a:r>
                    </a:p>
                    <a:p>
                      <a:r>
                        <a:rPr lang="en-US" sz="1600" dirty="0">
                          <a:latin typeface="Times New Roman" panose="02020603050405020304" pitchFamily="18" charset="0"/>
                          <a:cs typeface="Times New Roman" panose="02020603050405020304" pitchFamily="18" charset="0"/>
                        </a:rPr>
                        <a:t>Conference on Advanced Computing and Communication Systems(ICACCS),</a:t>
                      </a:r>
                    </a:p>
                    <a:p>
                      <a:r>
                        <a:rPr lang="en-US" sz="1600" dirty="0">
                          <a:latin typeface="Times New Roman" panose="02020603050405020304" pitchFamily="18" charset="0"/>
                          <a:cs typeface="Times New Roman" panose="02020603050405020304" pitchFamily="18" charset="0"/>
                        </a:rPr>
                        <a:t>IEEE</a:t>
                      </a:r>
                    </a:p>
                  </a:txBody>
                  <a:tcPr/>
                </a:tc>
                <a:tc>
                  <a:txBody>
                    <a:bodyPr/>
                    <a:lstStyle/>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The system requires the camera to be placed directly in front of students with good lighting. Students must maintain proper distance, and accuracy depends on positioning and angle. Performance slows down as the database size increases. </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In the future, recognition speed can be improved for large databases. The system can support more platforms, improve low-light performance, and handle facial changes better. </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00231629"/>
                  </a:ext>
                </a:extLst>
              </a:tr>
              <a:tr h="530578">
                <a:tc>
                  <a:txBody>
                    <a:bodyPr/>
                    <a:lstStyle/>
                    <a:p>
                      <a:r>
                        <a:rPr lang="en-US" sz="1600" dirty="0">
                          <a:latin typeface="Times New Roman" panose="02020603050405020304" pitchFamily="18" charset="0"/>
                          <a:cs typeface="Times New Roman" panose="02020603050405020304" pitchFamily="18" charset="0"/>
                        </a:rPr>
                        <a:t>5.</a:t>
                      </a:r>
                    </a:p>
                  </a:txBody>
                  <a:tcPr/>
                </a:tc>
                <a:tc>
                  <a:txBody>
                    <a:bodyPr/>
                    <a:lstStyle/>
                    <a:p>
                      <a:r>
                        <a:rPr lang="en-US" sz="1600" dirty="0">
                          <a:latin typeface="Times New Roman" panose="02020603050405020304" pitchFamily="18" charset="0"/>
                          <a:cs typeface="Times New Roman" panose="02020603050405020304" pitchFamily="18" charset="0"/>
                        </a:rPr>
                        <a:t>Nithin</a:t>
                      </a:r>
                    </a:p>
                    <a:p>
                      <a:r>
                        <a:rPr lang="en-US" sz="1600" dirty="0">
                          <a:latin typeface="Times New Roman" panose="02020603050405020304" pitchFamily="18" charset="0"/>
                          <a:cs typeface="Times New Roman" panose="02020603050405020304" pitchFamily="18" charset="0"/>
                        </a:rPr>
                        <a:t>Ramakrishnan,</a:t>
                      </a:r>
                    </a:p>
                    <a:p>
                      <a:r>
                        <a:rPr lang="en-US" sz="1600" dirty="0">
                          <a:latin typeface="Times New Roman" panose="02020603050405020304" pitchFamily="18" charset="0"/>
                          <a:cs typeface="Times New Roman" panose="02020603050405020304" pitchFamily="18" charset="0"/>
                        </a:rPr>
                        <a:t>Meenakshi</a:t>
                      </a:r>
                    </a:p>
                    <a:p>
                      <a:r>
                        <a:rPr lang="en-US" sz="1600" dirty="0">
                          <a:latin typeface="Times New Roman" panose="02020603050405020304" pitchFamily="18" charset="0"/>
                          <a:cs typeface="Times New Roman" panose="02020603050405020304" pitchFamily="18" charset="0"/>
                        </a:rPr>
                        <a:t>Sundaram</a:t>
                      </a:r>
                    </a:p>
                    <a:p>
                      <a:r>
                        <a:rPr lang="en-US" sz="1600" dirty="0">
                          <a:latin typeface="Times New Roman" panose="02020603050405020304" pitchFamily="18" charset="0"/>
                          <a:cs typeface="Times New Roman" panose="02020603050405020304" pitchFamily="18" charset="0"/>
                        </a:rPr>
                        <a:t>A., Ajil A.,</a:t>
                      </a:r>
                    </a:p>
                    <a:p>
                      <a:r>
                        <a:rPr lang="en-US" sz="1600" dirty="0">
                          <a:latin typeface="Times New Roman" panose="02020603050405020304" pitchFamily="18" charset="0"/>
                          <a:cs typeface="Times New Roman" panose="02020603050405020304" pitchFamily="18" charset="0"/>
                        </a:rPr>
                        <a:t>Sanju V.,</a:t>
                      </a:r>
                    </a:p>
                    <a:p>
                      <a:r>
                        <a:rPr lang="en-US" sz="1600" dirty="0">
                          <a:latin typeface="Times New Roman" panose="02020603050405020304" pitchFamily="18" charset="0"/>
                          <a:cs typeface="Times New Roman" panose="02020603050405020304" pitchFamily="18" charset="0"/>
                        </a:rPr>
                        <a:t>Anooja Ali</a:t>
                      </a:r>
                    </a:p>
                  </a:txBody>
                  <a:tcPr/>
                </a:tc>
                <a:tc>
                  <a:txBody>
                    <a:bodyPr/>
                    <a:lstStyle/>
                    <a:p>
                      <a:r>
                        <a:rPr lang="en-US" sz="1600" dirty="0">
                          <a:latin typeface="Times New Roman" panose="02020603050405020304" pitchFamily="18" charset="0"/>
                          <a:cs typeface="Times New Roman" panose="02020603050405020304" pitchFamily="18" charset="0"/>
                        </a:rPr>
                        <a:t>Wi-Fi Based</a:t>
                      </a:r>
                    </a:p>
                    <a:p>
                      <a:r>
                        <a:rPr lang="en-US" sz="1600" dirty="0">
                          <a:latin typeface="Times New Roman" panose="02020603050405020304" pitchFamily="18" charset="0"/>
                          <a:cs typeface="Times New Roman" panose="02020603050405020304" pitchFamily="18" charset="0"/>
                        </a:rPr>
                        <a:t>Smart</a:t>
                      </a:r>
                    </a:p>
                    <a:p>
                      <a:r>
                        <a:rPr lang="en-US" sz="1600" dirty="0">
                          <a:latin typeface="Times New Roman" panose="02020603050405020304" pitchFamily="18" charset="0"/>
                          <a:cs typeface="Times New Roman" panose="02020603050405020304" pitchFamily="18" charset="0"/>
                        </a:rPr>
                        <a:t>Attendance</a:t>
                      </a:r>
                    </a:p>
                    <a:p>
                      <a:r>
                        <a:rPr lang="en-US" sz="1600" dirty="0">
                          <a:latin typeface="Times New Roman" panose="02020603050405020304" pitchFamily="18" charset="0"/>
                          <a:cs typeface="Times New Roman" panose="02020603050405020304" pitchFamily="18" charset="0"/>
                        </a:rPr>
                        <a:t>Monitoring System(2023)</a:t>
                      </a:r>
                    </a:p>
                  </a:txBody>
                  <a:tcPr/>
                </a:tc>
                <a:tc>
                  <a:txBody>
                    <a:bodyPr/>
                    <a:lstStyle/>
                    <a:p>
                      <a:r>
                        <a:rPr lang="en-US" sz="1600" dirty="0">
                          <a:latin typeface="Times New Roman" panose="02020603050405020304" pitchFamily="18" charset="0"/>
                          <a:cs typeface="Times New Roman" panose="02020603050405020304" pitchFamily="18" charset="0"/>
                        </a:rPr>
                        <a:t>7</a:t>
                      </a:r>
                      <a:r>
                        <a:rPr lang="en-US" sz="1600" baseline="30000" dirty="0">
                          <a:latin typeface="Times New Roman" panose="02020603050405020304" pitchFamily="18" charset="0"/>
                          <a:cs typeface="Times New Roman" panose="02020603050405020304" pitchFamily="18" charset="0"/>
                        </a:rPr>
                        <a:t>th</a:t>
                      </a:r>
                      <a:r>
                        <a:rPr lang="en-US" sz="1600" dirty="0">
                          <a:latin typeface="Times New Roman" panose="02020603050405020304" pitchFamily="18" charset="0"/>
                          <a:cs typeface="Times New Roman" panose="02020603050405020304" pitchFamily="18" charset="0"/>
                        </a:rPr>
                        <a:t> International</a:t>
                      </a:r>
                    </a:p>
                    <a:p>
                      <a:r>
                        <a:rPr lang="en-US" sz="1600" dirty="0">
                          <a:latin typeface="Times New Roman" panose="02020603050405020304" pitchFamily="18" charset="0"/>
                          <a:cs typeface="Times New Roman" panose="02020603050405020304" pitchFamily="18" charset="0"/>
                        </a:rPr>
                        <a:t>Conference on</a:t>
                      </a:r>
                    </a:p>
                    <a:p>
                      <a:r>
                        <a:rPr lang="en-US" sz="1600" dirty="0">
                          <a:latin typeface="Times New Roman" panose="02020603050405020304" pitchFamily="18" charset="0"/>
                          <a:cs typeface="Times New Roman" panose="02020603050405020304" pitchFamily="18" charset="0"/>
                        </a:rPr>
                        <a:t>Computation</a:t>
                      </a:r>
                    </a:p>
                    <a:p>
                      <a:r>
                        <a:rPr lang="en-US" sz="1600" dirty="0">
                          <a:latin typeface="Times New Roman" panose="02020603050405020304" pitchFamily="18" charset="0"/>
                          <a:cs typeface="Times New Roman" panose="02020603050405020304" pitchFamily="18" charset="0"/>
                        </a:rPr>
                        <a:t>System and</a:t>
                      </a:r>
                    </a:p>
                    <a:p>
                      <a:r>
                        <a:rPr lang="en-US" sz="1600" dirty="0">
                          <a:latin typeface="Times New Roman" panose="02020603050405020304" pitchFamily="18" charset="0"/>
                          <a:cs typeface="Times New Roman" panose="02020603050405020304" pitchFamily="18" charset="0"/>
                        </a:rPr>
                        <a:t>Information</a:t>
                      </a:r>
                    </a:p>
                    <a:p>
                      <a:r>
                        <a:rPr lang="en-US" sz="1600" dirty="0">
                          <a:latin typeface="Times New Roman" panose="02020603050405020304" pitchFamily="18" charset="0"/>
                          <a:cs typeface="Times New Roman" panose="02020603050405020304" pitchFamily="18" charset="0"/>
                        </a:rPr>
                        <a:t>Technology</a:t>
                      </a:r>
                    </a:p>
                    <a:p>
                      <a:r>
                        <a:rPr lang="en-US" sz="1600" dirty="0">
                          <a:latin typeface="Times New Roman" panose="02020603050405020304" pitchFamily="18" charset="0"/>
                          <a:cs typeface="Times New Roman" panose="02020603050405020304" pitchFamily="18" charset="0"/>
                        </a:rPr>
                        <a:t>For Sustainable</a:t>
                      </a:r>
                    </a:p>
                    <a:p>
                      <a:r>
                        <a:rPr lang="en-US" sz="1600" dirty="0">
                          <a:latin typeface="Times New Roman" panose="02020603050405020304" pitchFamily="18" charset="0"/>
                          <a:cs typeface="Times New Roman" panose="02020603050405020304" pitchFamily="18" charset="0"/>
                        </a:rPr>
                        <a:t>Solutions(CSITSS),IEEE</a:t>
                      </a:r>
                    </a:p>
                  </a:txBody>
                  <a:tcPr/>
                </a:tc>
                <a:tc>
                  <a:txBody>
                    <a:bodyPr/>
                    <a:lstStyle/>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The system depends on stable Wi‑Fi and internet connectivity. Face recognition processing becomes slower with larger databases. It is limited to Android and iOS users and mainly works within campus. GPS, IP verification, and notification timing may sometimes cause access issues.</a:t>
                      </a:r>
                    </a:p>
                    <a:p>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In the future, the system can improve face comparison speed for large databases. Offline mode and multi-platform support can be added. Notification timing can be customized, and advanced attendance analytics can be integrated with institutional management systems.</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34571321"/>
                  </a:ext>
                </a:extLst>
              </a:tr>
            </a:tbl>
          </a:graphicData>
        </a:graphic>
      </p:graphicFrame>
    </p:spTree>
    <p:extLst>
      <p:ext uri="{BB962C8B-B14F-4D97-AF65-F5344CB8AC3E}">
        <p14:creationId xmlns:p14="http://schemas.microsoft.com/office/powerpoint/2010/main" val="3123237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F0657-0DF5-58D4-BA24-C3C6F499D713}"/>
              </a:ext>
            </a:extLst>
          </p:cNvPr>
          <p:cNvSpPr>
            <a:spLocks noGrp="1"/>
          </p:cNvSpPr>
          <p:nvPr>
            <p:ph type="title"/>
          </p:nvPr>
        </p:nvSpPr>
        <p:spPr>
          <a:xfrm>
            <a:off x="1204712" y="353374"/>
            <a:ext cx="8761413" cy="706964"/>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ARCHITECTURE</a:t>
            </a:r>
          </a:p>
        </p:txBody>
      </p:sp>
      <p:pic>
        <p:nvPicPr>
          <p:cNvPr id="5" name="Content Placeholder 4">
            <a:extLst>
              <a:ext uri="{FF2B5EF4-FFF2-40B4-BE49-F238E27FC236}">
                <a16:creationId xmlns:a16="http://schemas.microsoft.com/office/drawing/2014/main" id="{D3FBFDD7-49F2-529D-2E06-7C345FB0694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80321" y="1060338"/>
            <a:ext cx="6254151" cy="5368524"/>
          </a:xfrm>
        </p:spPr>
      </p:pic>
    </p:spTree>
    <p:extLst>
      <p:ext uri="{BB962C8B-B14F-4D97-AF65-F5344CB8AC3E}">
        <p14:creationId xmlns:p14="http://schemas.microsoft.com/office/powerpoint/2010/main" val="83892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9589C-FAF3-AEA3-EC51-89905B459676}"/>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ALGORITHMS</a:t>
            </a:r>
          </a:p>
        </p:txBody>
      </p:sp>
      <p:sp>
        <p:nvSpPr>
          <p:cNvPr id="3" name="Content Placeholder 2">
            <a:extLst>
              <a:ext uri="{FF2B5EF4-FFF2-40B4-BE49-F238E27FC236}">
                <a16:creationId xmlns:a16="http://schemas.microsoft.com/office/drawing/2014/main" id="{99665765-D940-F467-0DA4-AE4D38278456}"/>
              </a:ext>
            </a:extLst>
          </p:cNvPr>
          <p:cNvSpPr>
            <a:spLocks noGrp="1"/>
          </p:cNvSpPr>
          <p:nvPr>
            <p:ph idx="1"/>
          </p:nvPr>
        </p:nvSpPr>
        <p:spPr>
          <a:xfrm>
            <a:off x="500833" y="1932317"/>
            <a:ext cx="9415534" cy="3727887"/>
          </a:xfrm>
        </p:spPr>
        <p:txBody>
          <a:bodyPr>
            <a:noAutofit/>
          </a:bodyPr>
          <a:lstStyle/>
          <a:p>
            <a:pPr marL="0" indent="0">
              <a:buNone/>
            </a:pPr>
            <a:r>
              <a:rPr lang="en-US" sz="20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Retina Face (Face Detection):</a:t>
            </a:r>
          </a:p>
          <a:p>
            <a:pPr lvl="1"/>
            <a:r>
              <a:rPr lang="en-US" dirty="0">
                <a:latin typeface="Times New Roman" panose="02020603050405020304" pitchFamily="18" charset="0"/>
                <a:cs typeface="Times New Roman" panose="02020603050405020304" pitchFamily="18" charset="0"/>
              </a:rPr>
              <a:t>Detects and localizes faces accurately in classroom video frames.</a:t>
            </a:r>
          </a:p>
          <a:p>
            <a:pPr marL="0" indent="0">
              <a:buNone/>
            </a:pPr>
            <a:r>
              <a:rPr lang="en-US" sz="2400" dirty="0">
                <a:latin typeface="Times New Roman" panose="02020603050405020304" pitchFamily="18" charset="0"/>
                <a:cs typeface="Times New Roman" panose="02020603050405020304" pitchFamily="18" charset="0"/>
              </a:rPr>
              <a:t>• Arc Face (Face Recognition):</a:t>
            </a:r>
          </a:p>
          <a:p>
            <a:pPr lvl="1"/>
            <a:r>
              <a:rPr lang="en-US" dirty="0">
                <a:latin typeface="Times New Roman" panose="02020603050405020304" pitchFamily="18" charset="0"/>
                <a:cs typeface="Times New Roman" panose="02020603050405020304" pitchFamily="18" charset="0"/>
              </a:rPr>
              <a:t>Extracts highly discriminative face embeddings to identify students.</a:t>
            </a:r>
          </a:p>
          <a:p>
            <a:pPr marL="0" indent="0">
              <a:buNone/>
            </a:pPr>
            <a:r>
              <a:rPr lang="en-US" sz="2400" dirty="0">
                <a:latin typeface="Times New Roman" panose="02020603050405020304" pitchFamily="18" charset="0"/>
                <a:cs typeface="Times New Roman" panose="02020603050405020304" pitchFamily="18" charset="0"/>
              </a:rPr>
              <a:t>• Cosine Similarity (Matching):</a:t>
            </a:r>
          </a:p>
          <a:p>
            <a:pPr lvl="1"/>
            <a:r>
              <a:rPr lang="en-US" dirty="0">
                <a:latin typeface="Times New Roman" panose="02020603050405020304" pitchFamily="18" charset="0"/>
                <a:cs typeface="Times New Roman" panose="02020603050405020304" pitchFamily="18" charset="0"/>
              </a:rPr>
              <a:t>Compares face embeddings to determine identity similarity.</a:t>
            </a:r>
          </a:p>
          <a:p>
            <a:pPr marL="0" indent="0">
              <a:buNone/>
            </a:pPr>
            <a:r>
              <a:rPr lang="en-US" sz="2400" dirty="0">
                <a:latin typeface="Times New Roman" panose="02020603050405020304" pitchFamily="18" charset="0"/>
                <a:cs typeface="Times New Roman" panose="02020603050405020304" pitchFamily="18" charset="0"/>
              </a:rPr>
              <a:t>• Blink / Head-Movement Detection (Liveness):</a:t>
            </a:r>
          </a:p>
          <a:p>
            <a:pPr lvl="1"/>
            <a:r>
              <a:rPr lang="en-US" dirty="0">
                <a:latin typeface="Times New Roman" panose="02020603050405020304" pitchFamily="18" charset="0"/>
                <a:cs typeface="Times New Roman" panose="02020603050405020304" pitchFamily="18" charset="0"/>
              </a:rPr>
              <a:t>Ensures the detected face is a real person, not a photo or video.</a:t>
            </a:r>
          </a:p>
          <a:p>
            <a:pPr marL="0" indent="0">
              <a:buNone/>
            </a:pPr>
            <a:r>
              <a:rPr lang="en-US" sz="2400" dirty="0">
                <a:latin typeface="Times New Roman" panose="02020603050405020304" pitchFamily="18" charset="0"/>
                <a:cs typeface="Times New Roman" panose="02020603050405020304" pitchFamily="18" charset="0"/>
              </a:rPr>
              <a:t>• Rule-Based Attendance Logic:</a:t>
            </a:r>
          </a:p>
          <a:p>
            <a:pPr lvl="1"/>
            <a:r>
              <a:rPr lang="en-US" dirty="0">
                <a:latin typeface="Times New Roman" panose="02020603050405020304" pitchFamily="18" charset="0"/>
                <a:cs typeface="Times New Roman" panose="02020603050405020304" pitchFamily="18" charset="0"/>
              </a:rPr>
              <a:t>Maps recognized faces to timetable periods and marks attendance.</a:t>
            </a:r>
          </a:p>
        </p:txBody>
      </p:sp>
    </p:spTree>
    <p:extLst>
      <p:ext uri="{BB962C8B-B14F-4D97-AF65-F5344CB8AC3E}">
        <p14:creationId xmlns:p14="http://schemas.microsoft.com/office/powerpoint/2010/main" val="864824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AB4D3-AE33-F49F-EDCC-28C103ABDD96}"/>
              </a:ext>
            </a:extLst>
          </p:cNvPr>
          <p:cNvSpPr>
            <a:spLocks noGrp="1"/>
          </p:cNvSpPr>
          <p:nvPr>
            <p:ph type="title"/>
          </p:nvPr>
        </p:nvSpPr>
        <p:spPr>
          <a:xfrm>
            <a:off x="838200" y="18256"/>
            <a:ext cx="10515600" cy="1030534"/>
          </a:xfrm>
        </p:spPr>
        <p:txBody>
          <a:bodyPr/>
          <a:lstStyle/>
          <a:p>
            <a:pPr algn="ctr"/>
            <a:r>
              <a:rPr lang="en-US" dirty="0">
                <a:latin typeface="Times New Roman" panose="02020603050405020304" pitchFamily="18" charset="0"/>
                <a:cs typeface="Times New Roman" panose="02020603050405020304" pitchFamily="18" charset="0"/>
              </a:rPr>
              <a:t>Existing System</a:t>
            </a:r>
          </a:p>
        </p:txBody>
      </p:sp>
      <p:sp>
        <p:nvSpPr>
          <p:cNvPr id="5" name="Rectangle 2">
            <a:extLst>
              <a:ext uri="{FF2B5EF4-FFF2-40B4-BE49-F238E27FC236}">
                <a16:creationId xmlns:a16="http://schemas.microsoft.com/office/drawing/2014/main" id="{EBA33690-934C-F047-5072-1DE18C4C6BC8}"/>
              </a:ext>
            </a:extLst>
          </p:cNvPr>
          <p:cNvSpPr>
            <a:spLocks noGrp="1" noChangeArrowheads="1"/>
          </p:cNvSpPr>
          <p:nvPr>
            <p:ph idx="1"/>
          </p:nvPr>
        </p:nvSpPr>
        <p:spPr bwMode="auto">
          <a:xfrm>
            <a:off x="300039" y="1435884"/>
            <a:ext cx="11320124"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Technology Used:</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Face recognition using YOLO, ResNet-34,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ArcFace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OpenCV (LBPH), and CNN is widely used for attendance as it is contactless and prevents proxy, unlike fingerprint or GPS methods.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Advanced Features: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Systems include attention tracking, cloud analytics, Excel reports, real-time alerts, and dashboards for monitoring attendance and student engagement.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Common Limitations: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These systems require good lighting, proper distance (2–3m), limited angles, may slow with large data, and raise privacy concerns.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Performance Results: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They reduce attendance time by up to 95%, achieve high accuracy (90–95%), prevent proxy, and support large classes efficiently. </a:t>
            </a:r>
          </a:p>
        </p:txBody>
      </p:sp>
    </p:spTree>
    <p:extLst>
      <p:ext uri="{BB962C8B-B14F-4D97-AF65-F5344CB8AC3E}">
        <p14:creationId xmlns:p14="http://schemas.microsoft.com/office/powerpoint/2010/main" val="25374792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C45FC-8748-501C-1A12-A313E66E2401}"/>
              </a:ext>
            </a:extLst>
          </p:cNvPr>
          <p:cNvSpPr>
            <a:spLocks noGrp="1"/>
          </p:cNvSpPr>
          <p:nvPr>
            <p:ph type="title"/>
          </p:nvPr>
        </p:nvSpPr>
        <p:spPr>
          <a:xfrm>
            <a:off x="838200" y="65720"/>
            <a:ext cx="10515600" cy="1325563"/>
          </a:xfrm>
        </p:spPr>
        <p:txBody>
          <a:bodyPr/>
          <a:lstStyle/>
          <a:p>
            <a:pPr algn="ctr"/>
            <a:r>
              <a:rPr lang="en-US" dirty="0">
                <a:latin typeface="Times New Roman" panose="02020603050405020304" pitchFamily="18" charset="0"/>
                <a:cs typeface="Times New Roman" panose="02020603050405020304" pitchFamily="18" charset="0"/>
              </a:rPr>
              <a:t>Proposed Work</a:t>
            </a:r>
          </a:p>
        </p:txBody>
      </p:sp>
      <p:sp>
        <p:nvSpPr>
          <p:cNvPr id="3" name="Content Placeholder 2">
            <a:extLst>
              <a:ext uri="{FF2B5EF4-FFF2-40B4-BE49-F238E27FC236}">
                <a16:creationId xmlns:a16="http://schemas.microsoft.com/office/drawing/2014/main" id="{FAE099CA-3DC8-4547-779C-E54BD7583CCA}"/>
              </a:ext>
            </a:extLst>
          </p:cNvPr>
          <p:cNvSpPr>
            <a:spLocks noGrp="1"/>
          </p:cNvSpPr>
          <p:nvPr>
            <p:ph idx="1"/>
          </p:nvPr>
        </p:nvSpPr>
        <p:spPr>
          <a:xfrm>
            <a:off x="1561763" y="1536553"/>
            <a:ext cx="9483865" cy="4351338"/>
          </a:xfrm>
        </p:spPr>
        <p:txBody>
          <a:bodyPr>
            <a:noAutofit/>
          </a:bodyPr>
          <a:lstStyle/>
          <a:p>
            <a:r>
              <a:rPr lang="en-US" sz="2400" dirty="0">
                <a:latin typeface="Times New Roman" panose="02020603050405020304" pitchFamily="18" charset="0"/>
                <a:cs typeface="Times New Roman" panose="02020603050405020304" pitchFamily="18" charset="0"/>
              </a:rPr>
              <a:t>Develop a Face Recognition Based Attendance System</a:t>
            </a:r>
          </a:p>
          <a:p>
            <a:r>
              <a:rPr lang="en-US" sz="2400" dirty="0">
                <a:latin typeface="Times New Roman" panose="02020603050405020304" pitchFamily="18" charset="0"/>
                <a:cs typeface="Times New Roman" panose="02020603050405020304" pitchFamily="18" charset="0"/>
              </a:rPr>
              <a:t>Secure Admin Face Authentication</a:t>
            </a:r>
          </a:p>
          <a:p>
            <a:r>
              <a:rPr lang="en-US" sz="2400" dirty="0">
                <a:latin typeface="Times New Roman" panose="02020603050405020304" pitchFamily="18" charset="0"/>
                <a:cs typeface="Times New Roman" panose="02020603050405020304" pitchFamily="18" charset="0"/>
              </a:rPr>
              <a:t>Real-Time Multi-Face Detection &amp; Recognition</a:t>
            </a:r>
          </a:p>
          <a:p>
            <a:r>
              <a:rPr lang="en-US" sz="2400" dirty="0">
                <a:latin typeface="Times New Roman" panose="02020603050405020304" pitchFamily="18" charset="0"/>
                <a:cs typeface="Times New Roman" panose="02020603050405020304" pitchFamily="18" charset="0"/>
              </a:rPr>
              <a:t>Automated Attendance Management with Reporting</a:t>
            </a:r>
          </a:p>
          <a:p>
            <a:r>
              <a:rPr lang="en-US" sz="2400" dirty="0">
                <a:latin typeface="Times New Roman" panose="02020603050405020304" pitchFamily="18" charset="0"/>
                <a:cs typeface="Times New Roman" panose="02020603050405020304" pitchFamily="18" charset="0"/>
              </a:rPr>
              <a:t>Liveness Detection &amp; Auto-Absent Mechanism</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6031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78244-F75E-6A8C-A1A6-6E87D9A17AE2}"/>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REQUIREMENTS</a:t>
            </a:r>
          </a:p>
        </p:txBody>
      </p:sp>
      <p:sp>
        <p:nvSpPr>
          <p:cNvPr id="3" name="Content Placeholder 2">
            <a:extLst>
              <a:ext uri="{FF2B5EF4-FFF2-40B4-BE49-F238E27FC236}">
                <a16:creationId xmlns:a16="http://schemas.microsoft.com/office/drawing/2014/main" id="{F8CF995A-2D53-BCDC-B63C-333F5F4D8945}"/>
              </a:ext>
            </a:extLst>
          </p:cNvPr>
          <p:cNvSpPr>
            <a:spLocks noGrp="1"/>
          </p:cNvSpPr>
          <p:nvPr>
            <p:ph idx="1"/>
          </p:nvPr>
        </p:nvSpPr>
        <p:spPr/>
        <p:txBody>
          <a:bodyPr>
            <a:normAutofit/>
          </a:bodyPr>
          <a:lstStyle/>
          <a:p>
            <a:pPr marL="0" indent="0">
              <a:buNone/>
            </a:pPr>
            <a:r>
              <a:rPr lang="en-US" sz="2800" b="1" dirty="0">
                <a:latin typeface="Times New Roman" panose="02020603050405020304" pitchFamily="18" charset="0"/>
                <a:cs typeface="Times New Roman" panose="02020603050405020304" pitchFamily="18" charset="0"/>
              </a:rPr>
              <a:t>Functional Requirements</a:t>
            </a:r>
          </a:p>
          <a:p>
            <a:pPr lvl="1"/>
            <a:r>
              <a:rPr lang="en-US" sz="2800" dirty="0">
                <a:latin typeface="Times New Roman" panose="02020603050405020304" pitchFamily="18" charset="0"/>
                <a:cs typeface="Times New Roman" panose="02020603050405020304" pitchFamily="18" charset="0"/>
              </a:rPr>
              <a:t>Capture live video</a:t>
            </a:r>
          </a:p>
          <a:p>
            <a:pPr lvl="1"/>
            <a:r>
              <a:rPr lang="en-US" sz="2800" dirty="0">
                <a:latin typeface="Times New Roman" panose="02020603050405020304" pitchFamily="18" charset="0"/>
                <a:cs typeface="Times New Roman" panose="02020603050405020304" pitchFamily="18" charset="0"/>
              </a:rPr>
              <a:t>Detect and recognize faces</a:t>
            </a:r>
          </a:p>
          <a:p>
            <a:pPr lvl="1"/>
            <a:r>
              <a:rPr lang="en-US" sz="2800" dirty="0">
                <a:latin typeface="Times New Roman" panose="02020603050405020304" pitchFamily="18" charset="0"/>
                <a:cs typeface="Times New Roman" panose="02020603050405020304" pitchFamily="18" charset="0"/>
              </a:rPr>
              <a:t>Enroll new students</a:t>
            </a:r>
          </a:p>
          <a:p>
            <a:pPr lvl="1"/>
            <a:r>
              <a:rPr lang="en-US" sz="2800" dirty="0">
                <a:latin typeface="Times New Roman" panose="02020603050405020304" pitchFamily="18" charset="0"/>
                <a:cs typeface="Times New Roman" panose="02020603050405020304" pitchFamily="18" charset="0"/>
              </a:rPr>
              <a:t>Monitor presence continuously</a:t>
            </a:r>
          </a:p>
          <a:p>
            <a:pPr lvl="1"/>
            <a:r>
              <a:rPr lang="en-US" sz="2800" dirty="0">
                <a:latin typeface="Times New Roman" panose="02020603050405020304" pitchFamily="18" charset="0"/>
                <a:cs typeface="Times New Roman" panose="02020603050405020304" pitchFamily="18" charset="0"/>
              </a:rPr>
              <a:t>Generate attendance report</a:t>
            </a:r>
          </a:p>
          <a:p>
            <a:pPr lvl="1"/>
            <a:endParaRPr lang="en-US" dirty="0"/>
          </a:p>
          <a:p>
            <a:endParaRPr lang="en-US" dirty="0"/>
          </a:p>
        </p:txBody>
      </p:sp>
    </p:spTree>
    <p:extLst>
      <p:ext uri="{BB962C8B-B14F-4D97-AF65-F5344CB8AC3E}">
        <p14:creationId xmlns:p14="http://schemas.microsoft.com/office/powerpoint/2010/main" val="3827961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F990A1-F59A-086F-A3A0-55FB325202B7}"/>
              </a:ext>
            </a:extLst>
          </p:cNvPr>
          <p:cNvSpPr>
            <a:spLocks noGrp="1"/>
          </p:cNvSpPr>
          <p:nvPr>
            <p:ph idx="1"/>
          </p:nvPr>
        </p:nvSpPr>
        <p:spPr>
          <a:xfrm>
            <a:off x="604158" y="865414"/>
            <a:ext cx="9213170" cy="5388429"/>
          </a:xfrm>
        </p:spPr>
        <p:txBody>
          <a:bodyPr>
            <a:normAutofit/>
          </a:bodyPr>
          <a:lstStyle/>
          <a:p>
            <a:pPr marL="0" indent="0">
              <a:buNone/>
            </a:pPr>
            <a:r>
              <a:rPr lang="en-US" sz="3100" b="1" dirty="0">
                <a:latin typeface="Times New Roman" panose="02020603050405020304" pitchFamily="18" charset="0"/>
                <a:cs typeface="Times New Roman" panose="02020603050405020304" pitchFamily="18" charset="0"/>
              </a:rPr>
              <a:t>Non‑Functional Requirements</a:t>
            </a:r>
            <a:endParaRPr lang="en-US" sz="3100" dirty="0">
              <a:latin typeface="Times New Roman" panose="02020603050405020304" pitchFamily="18" charset="0"/>
              <a:cs typeface="Times New Roman" panose="02020603050405020304" pitchFamily="18" charset="0"/>
            </a:endParaRPr>
          </a:p>
          <a:p>
            <a:pPr lvl="1"/>
            <a:r>
              <a:rPr lang="en-US" sz="3100" dirty="0">
                <a:latin typeface="Times New Roman" panose="02020603050405020304" pitchFamily="18" charset="0"/>
                <a:cs typeface="Times New Roman" panose="02020603050405020304" pitchFamily="18" charset="0"/>
              </a:rPr>
              <a:t>Fast response time</a:t>
            </a:r>
          </a:p>
          <a:p>
            <a:pPr lvl="1"/>
            <a:r>
              <a:rPr lang="en-US" sz="3100" dirty="0">
                <a:latin typeface="Times New Roman" panose="02020603050405020304" pitchFamily="18" charset="0"/>
                <a:cs typeface="Times New Roman" panose="02020603050405020304" pitchFamily="18" charset="0"/>
              </a:rPr>
              <a:t>Easy to use</a:t>
            </a:r>
          </a:p>
          <a:p>
            <a:pPr lvl="1"/>
            <a:r>
              <a:rPr lang="en-US" sz="3100" dirty="0">
                <a:latin typeface="Times New Roman" panose="02020603050405020304" pitchFamily="18" charset="0"/>
                <a:cs typeface="Times New Roman" panose="02020603050405020304" pitchFamily="18" charset="0"/>
              </a:rPr>
              <a:t>Secure student data</a:t>
            </a:r>
          </a:p>
          <a:p>
            <a:pPr lvl="1"/>
            <a:r>
              <a:rPr lang="en-US" sz="3100" dirty="0">
                <a:latin typeface="Times New Roman" panose="02020603050405020304" pitchFamily="18" charset="0"/>
                <a:cs typeface="Times New Roman" panose="02020603050405020304" pitchFamily="18" charset="0"/>
              </a:rPr>
              <a:t>Reliable in classroom conditions</a:t>
            </a:r>
          </a:p>
          <a:p>
            <a:pPr marL="0" indent="0">
              <a:buNone/>
            </a:pPr>
            <a:r>
              <a:rPr lang="en-US" sz="3100" b="1" dirty="0">
                <a:latin typeface="Times New Roman" panose="02020603050405020304" pitchFamily="18" charset="0"/>
                <a:cs typeface="Times New Roman" panose="02020603050405020304" pitchFamily="18" charset="0"/>
              </a:rPr>
              <a:t>Hardware Requirements</a:t>
            </a:r>
          </a:p>
          <a:p>
            <a:pPr lvl="1"/>
            <a:r>
              <a:rPr lang="en-US" sz="3100" dirty="0">
                <a:latin typeface="Times New Roman" panose="02020603050405020304" pitchFamily="18" charset="0"/>
                <a:cs typeface="Times New Roman" panose="02020603050405020304" pitchFamily="18" charset="0"/>
              </a:rPr>
              <a:t>Laptop (HP, 64‑bit)</a:t>
            </a:r>
          </a:p>
          <a:p>
            <a:pPr lvl="1"/>
            <a:r>
              <a:rPr lang="en-US" sz="3100" dirty="0">
                <a:latin typeface="Times New Roman" panose="02020603050405020304" pitchFamily="18" charset="0"/>
                <a:cs typeface="Times New Roman" panose="02020603050405020304" pitchFamily="18" charset="0"/>
              </a:rPr>
              <a:t>Webcam</a:t>
            </a:r>
          </a:p>
          <a:p>
            <a:pPr lvl="1"/>
            <a:r>
              <a:rPr lang="en-US" sz="3100" dirty="0">
                <a:latin typeface="Times New Roman" panose="02020603050405020304" pitchFamily="18" charset="0"/>
                <a:cs typeface="Times New Roman" panose="02020603050405020304" pitchFamily="18" charset="0"/>
              </a:rPr>
              <a:t>Minimum 8 GB RAM</a:t>
            </a:r>
          </a:p>
          <a:p>
            <a:pPr lvl="1"/>
            <a:r>
              <a:rPr lang="en-US" sz="3100" dirty="0">
                <a:latin typeface="Times New Roman" panose="02020603050405020304" pitchFamily="18" charset="0"/>
                <a:cs typeface="Times New Roman" panose="02020603050405020304" pitchFamily="18" charset="0"/>
              </a:rPr>
              <a:t>Intel i5 or above recommended</a:t>
            </a:r>
          </a:p>
          <a:p>
            <a:endParaRPr lang="en-US" dirty="0"/>
          </a:p>
        </p:txBody>
      </p:sp>
    </p:spTree>
    <p:extLst>
      <p:ext uri="{BB962C8B-B14F-4D97-AF65-F5344CB8AC3E}">
        <p14:creationId xmlns:p14="http://schemas.microsoft.com/office/powerpoint/2010/main" val="26187700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40AE41-0299-97BB-A125-909F6ACE555E}"/>
              </a:ext>
            </a:extLst>
          </p:cNvPr>
          <p:cNvSpPr>
            <a:spLocks noGrp="1"/>
          </p:cNvSpPr>
          <p:nvPr>
            <p:ph idx="1"/>
          </p:nvPr>
        </p:nvSpPr>
        <p:spPr>
          <a:xfrm>
            <a:off x="420538" y="740023"/>
            <a:ext cx="9180513" cy="3701143"/>
          </a:xfrm>
        </p:spPr>
        <p:txBody>
          <a:bodyPr>
            <a:normAutofit/>
          </a:bodyPr>
          <a:lstStyle/>
          <a:p>
            <a:pPr marL="0" indent="0">
              <a:buNone/>
            </a:pPr>
            <a:r>
              <a:rPr lang="en-US" sz="2800" b="1" dirty="0">
                <a:latin typeface="Times New Roman" panose="02020603050405020304" pitchFamily="18" charset="0"/>
                <a:cs typeface="Times New Roman" panose="02020603050405020304" pitchFamily="18" charset="0"/>
              </a:rPr>
              <a:t>Software Requirements</a:t>
            </a:r>
          </a:p>
          <a:p>
            <a:pPr lvl="1"/>
            <a:r>
              <a:rPr lang="en-US" sz="2800" dirty="0">
                <a:latin typeface="Times New Roman" panose="02020603050405020304" pitchFamily="18" charset="0"/>
                <a:cs typeface="Times New Roman" panose="02020603050405020304" pitchFamily="18" charset="0"/>
              </a:rPr>
              <a:t>Windows 10/11</a:t>
            </a:r>
          </a:p>
          <a:p>
            <a:pPr lvl="1"/>
            <a:r>
              <a:rPr lang="en-US" sz="2800" dirty="0">
                <a:latin typeface="Times New Roman" panose="02020603050405020304" pitchFamily="18" charset="0"/>
                <a:cs typeface="Times New Roman" panose="02020603050405020304" pitchFamily="18" charset="0"/>
              </a:rPr>
              <a:t>Python 3.9+</a:t>
            </a:r>
          </a:p>
          <a:p>
            <a:pPr lvl="1"/>
            <a:r>
              <a:rPr lang="en-US" sz="2800" dirty="0">
                <a:latin typeface="Times New Roman" panose="02020603050405020304" pitchFamily="18" charset="0"/>
                <a:cs typeface="Times New Roman" panose="02020603050405020304" pitchFamily="18" charset="0"/>
              </a:rPr>
              <a:t>OpenCV</a:t>
            </a:r>
          </a:p>
          <a:p>
            <a:pPr lvl="1"/>
            <a:r>
              <a:rPr lang="en-US" sz="2800" dirty="0">
                <a:latin typeface="Times New Roman" panose="02020603050405020304" pitchFamily="18" charset="0"/>
                <a:cs typeface="Times New Roman" panose="02020603050405020304" pitchFamily="18" charset="0"/>
              </a:rPr>
              <a:t>CRUD Operations(Timetable)</a:t>
            </a:r>
          </a:p>
          <a:p>
            <a:pPr lvl="1"/>
            <a:r>
              <a:rPr lang="en-US" sz="2800" dirty="0">
                <a:latin typeface="Times New Roman" panose="02020603050405020304" pitchFamily="18" charset="0"/>
                <a:cs typeface="Times New Roman" panose="02020603050405020304" pitchFamily="18" charset="0"/>
              </a:rPr>
              <a:t>Insight Face (Arc Face)</a:t>
            </a:r>
          </a:p>
          <a:p>
            <a:pPr lvl="1"/>
            <a:r>
              <a:rPr lang="en-US" sz="2800" dirty="0">
                <a:latin typeface="Times New Roman" panose="02020603050405020304" pitchFamily="18" charset="0"/>
                <a:cs typeface="Times New Roman" panose="02020603050405020304" pitchFamily="18" charset="0"/>
              </a:rPr>
              <a:t>SQLite / CSV</a:t>
            </a:r>
          </a:p>
          <a:p>
            <a:endParaRPr lang="en-US" dirty="0"/>
          </a:p>
        </p:txBody>
      </p:sp>
    </p:spTree>
    <p:extLst>
      <p:ext uri="{BB962C8B-B14F-4D97-AF65-F5344CB8AC3E}">
        <p14:creationId xmlns:p14="http://schemas.microsoft.com/office/powerpoint/2010/main" val="670843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91D82-68A9-4837-5E0F-E45C842DF657}"/>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GANTT CHART</a:t>
            </a:r>
          </a:p>
        </p:txBody>
      </p:sp>
      <p:pic>
        <p:nvPicPr>
          <p:cNvPr id="9" name="Content Placeholder 8">
            <a:extLst>
              <a:ext uri="{FF2B5EF4-FFF2-40B4-BE49-F238E27FC236}">
                <a16:creationId xmlns:a16="http://schemas.microsoft.com/office/drawing/2014/main" id="{3A186A39-49CC-DA1F-453E-05CF09E3EA5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61857" y="1690688"/>
            <a:ext cx="9268285" cy="4351338"/>
          </a:xfrm>
        </p:spPr>
      </p:pic>
    </p:spTree>
    <p:extLst>
      <p:ext uri="{BB962C8B-B14F-4D97-AF65-F5344CB8AC3E}">
        <p14:creationId xmlns:p14="http://schemas.microsoft.com/office/powerpoint/2010/main" val="12267933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964F8-CA17-D0C0-AB5A-F7DFE6665F89}"/>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DE494AF7-ABB8-D42E-0C69-CB7E4C118564}"/>
              </a:ext>
            </a:extLst>
          </p:cNvPr>
          <p:cNvSpPr>
            <a:spLocks noGrp="1"/>
          </p:cNvSpPr>
          <p:nvPr>
            <p:ph idx="1"/>
          </p:nvPr>
        </p:nvSpPr>
        <p:spPr/>
        <p:txBody>
          <a:bodyPr>
            <a:normAutofit/>
          </a:bodyPr>
          <a:lstStyle/>
          <a:p>
            <a:r>
              <a:rPr lang="en-US" sz="2800" dirty="0">
                <a:latin typeface="Times New Roman" panose="02020603050405020304" pitchFamily="18" charset="0"/>
                <a:cs typeface="Times New Roman" panose="02020603050405020304" pitchFamily="18" charset="0"/>
              </a:rPr>
              <a:t>This project presents an AI‑based smart attendance system using facial recognition with continuous presence </a:t>
            </a:r>
            <a:r>
              <a:rPr lang="en-US" sz="2800" dirty="0" err="1">
                <a:latin typeface="Times New Roman" panose="02020603050405020304" pitchFamily="18" charset="0"/>
                <a:cs typeface="Times New Roman" panose="02020603050405020304" pitchFamily="18" charset="0"/>
              </a:rPr>
              <a:t>monitoring.The</a:t>
            </a:r>
            <a:r>
              <a:rPr lang="en-US" sz="2800" dirty="0">
                <a:latin typeface="Times New Roman" panose="02020603050405020304" pitchFamily="18" charset="0"/>
                <a:cs typeface="Times New Roman" panose="02020603050405020304" pitchFamily="18" charset="0"/>
              </a:rPr>
              <a:t> system effectively eliminates proxy attendance, reduces manual effort, and ensures genuine student participation. By using deep learning techniques like Arc Face, the system achieves high accuracy and is suitable for real classroom environments.</a:t>
            </a:r>
            <a:br>
              <a:rPr lang="en-US" dirty="0"/>
            </a:br>
            <a:endParaRPr lang="en-US" dirty="0"/>
          </a:p>
        </p:txBody>
      </p:sp>
    </p:spTree>
    <p:extLst>
      <p:ext uri="{BB962C8B-B14F-4D97-AF65-F5344CB8AC3E}">
        <p14:creationId xmlns:p14="http://schemas.microsoft.com/office/powerpoint/2010/main" val="16429587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47632-855C-D149-C74B-956A84086508}"/>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1BFD9D47-A98D-E9A6-E1C5-31B5658CB65F}"/>
              </a:ext>
            </a:extLst>
          </p:cNvPr>
          <p:cNvSpPr>
            <a:spLocks noGrp="1"/>
          </p:cNvSpPr>
          <p:nvPr>
            <p:ph idx="1"/>
          </p:nvPr>
        </p:nvSpPr>
        <p:spPr>
          <a:xfrm>
            <a:off x="1148258" y="1794295"/>
            <a:ext cx="9895484" cy="4399472"/>
          </a:xfrm>
        </p:spPr>
        <p:txBody>
          <a:bodyPr>
            <a:normAutofit fontScale="92500"/>
          </a:bodyPr>
          <a:lstStyle/>
          <a:p>
            <a:pPr algn="just"/>
            <a:r>
              <a:rPr lang="en-US" sz="2200" dirty="0" err="1">
                <a:latin typeface="Times New Roman" panose="02020603050405020304" pitchFamily="18" charset="0"/>
                <a:cs typeface="Times New Roman" panose="02020603050405020304" pitchFamily="18" charset="0"/>
              </a:rPr>
              <a:t>Parhi</a:t>
            </a:r>
            <a:r>
              <a:rPr lang="en-US" sz="2200" dirty="0">
                <a:latin typeface="Times New Roman" panose="02020603050405020304" pitchFamily="18" charset="0"/>
                <a:cs typeface="Times New Roman" panose="02020603050405020304" pitchFamily="18" charset="0"/>
              </a:rPr>
              <a:t>, M., Roul, A., Ghosh, B. and Pati, A., 2022. </a:t>
            </a:r>
            <a:r>
              <a:rPr lang="en-US" sz="2200" dirty="0" err="1">
                <a:latin typeface="Times New Roman" panose="02020603050405020304" pitchFamily="18" charset="0"/>
                <a:cs typeface="Times New Roman" panose="02020603050405020304" pitchFamily="18" charset="0"/>
              </a:rPr>
              <a:t>Ioats</a:t>
            </a:r>
            <a:r>
              <a:rPr lang="en-US" sz="2200" dirty="0">
                <a:latin typeface="Times New Roman" panose="02020603050405020304" pitchFamily="18" charset="0"/>
                <a:cs typeface="Times New Roman" panose="02020603050405020304" pitchFamily="18" charset="0"/>
              </a:rPr>
              <a:t>: an intelligent online attendance tracking system based on facial recognition and edge computing. International Journal of Intelligent Systems and Applications in Engineering, 10(2), pp.252-259. </a:t>
            </a:r>
          </a:p>
          <a:p>
            <a:pPr algn="just"/>
            <a:r>
              <a:rPr lang="en-US" sz="2200" dirty="0">
                <a:latin typeface="Times New Roman" panose="02020603050405020304" pitchFamily="18" charset="0"/>
                <a:cs typeface="Times New Roman" panose="02020603050405020304" pitchFamily="18" charset="0"/>
              </a:rPr>
              <a:t>Satpute, N., Bharti, N., </a:t>
            </a:r>
            <a:r>
              <a:rPr lang="en-US" sz="2200" dirty="0" err="1">
                <a:latin typeface="Times New Roman" panose="02020603050405020304" pitchFamily="18" charset="0"/>
                <a:cs typeface="Times New Roman" panose="02020603050405020304" pitchFamily="18" charset="0"/>
              </a:rPr>
              <a:t>Uikey</a:t>
            </a:r>
            <a:r>
              <a:rPr lang="en-US" sz="2200" dirty="0">
                <a:latin typeface="Times New Roman" panose="02020603050405020304" pitchFamily="18" charset="0"/>
                <a:cs typeface="Times New Roman" panose="02020603050405020304" pitchFamily="18" charset="0"/>
              </a:rPr>
              <a:t>, A., Wati, R. and Chakole, V.V., Online Classroom Attendance Marking System Using Face Recognition, Python, Computer Vision, and Digital Image Processing. Int. J. Res. Appl. Sci. Eng. Technol, 10(2), pp.768-773. </a:t>
            </a:r>
          </a:p>
          <a:p>
            <a:pPr algn="just"/>
            <a:r>
              <a:rPr lang="en-US" sz="2200" dirty="0">
                <a:latin typeface="Times New Roman" panose="02020603050405020304" pitchFamily="18" charset="0"/>
                <a:cs typeface="Times New Roman" panose="02020603050405020304" pitchFamily="18" charset="0"/>
              </a:rPr>
              <a:t>Samal, </a:t>
            </a:r>
            <a:r>
              <a:rPr lang="en-US" sz="2200" dirty="0" err="1">
                <a:latin typeface="Times New Roman" panose="02020603050405020304" pitchFamily="18" charset="0"/>
                <a:cs typeface="Times New Roman" panose="02020603050405020304" pitchFamily="18" charset="0"/>
              </a:rPr>
              <a:t>P.A.IyenGar</a:t>
            </a:r>
            <a:r>
              <a:rPr lang="en-US" sz="2200" dirty="0">
                <a:latin typeface="Times New Roman" panose="02020603050405020304" pitchFamily="18" charset="0"/>
                <a:cs typeface="Times New Roman" panose="02020603050405020304" pitchFamily="18" charset="0"/>
              </a:rPr>
              <a:t>. “Automatic Recognition and Analysis of Human Faces and Facial Expressions: A Survey, Pattern Recognition”, 25(1), pp65-77, 1992 </a:t>
            </a:r>
          </a:p>
          <a:p>
            <a:pPr algn="just"/>
            <a:r>
              <a:rPr lang="en-US" sz="2200" dirty="0">
                <a:latin typeface="Times New Roman" panose="02020603050405020304" pitchFamily="18" charset="0"/>
                <a:cs typeface="Times New Roman" panose="02020603050405020304" pitchFamily="18" charset="0"/>
              </a:rPr>
              <a:t>Wei Lu, “Research and Implementation of Face Detection and Recognition based on Android Platform” [D], Southwest </a:t>
            </a:r>
            <a:r>
              <a:rPr lang="en-US" sz="2200" dirty="0" err="1">
                <a:latin typeface="Times New Roman" panose="02020603050405020304" pitchFamily="18" charset="0"/>
                <a:cs typeface="Times New Roman" panose="02020603050405020304" pitchFamily="18" charset="0"/>
              </a:rPr>
              <a:t>Jiaotong</a:t>
            </a:r>
            <a:r>
              <a:rPr lang="en-US" sz="2200" dirty="0">
                <a:latin typeface="Times New Roman" panose="02020603050405020304" pitchFamily="18" charset="0"/>
                <a:cs typeface="Times New Roman" panose="02020603050405020304" pitchFamily="18" charset="0"/>
              </a:rPr>
              <a:t> University, 2014.</a:t>
            </a:r>
          </a:p>
          <a:p>
            <a:pPr algn="just"/>
            <a:r>
              <a:rPr lang="en-US" sz="2200" dirty="0">
                <a:latin typeface="Times New Roman" panose="02020603050405020304" pitchFamily="18" charset="0"/>
                <a:cs typeface="Times New Roman" panose="02020603050405020304" pitchFamily="18" charset="0"/>
              </a:rPr>
              <a:t>Ramesh, </a:t>
            </a:r>
            <a:r>
              <a:rPr lang="en-US" sz="2200" dirty="0" err="1">
                <a:latin typeface="Times New Roman" panose="02020603050405020304" pitchFamily="18" charset="0"/>
                <a:cs typeface="Times New Roman" panose="02020603050405020304" pitchFamily="18" charset="0"/>
              </a:rPr>
              <a:t>Nvk</a:t>
            </a:r>
            <a:r>
              <a:rPr lang="en-US" sz="2200" dirty="0">
                <a:latin typeface="Times New Roman" panose="02020603050405020304" pitchFamily="18" charset="0"/>
                <a:cs typeface="Times New Roman" panose="02020603050405020304" pitchFamily="18" charset="0"/>
              </a:rPr>
              <a:t> &amp; Sumer, Md &amp; Poojita, M &amp; Akhil, T &amp; Deevena, B. (2020). An Efficient Way to Monitoring Attendance using Face Recognition Technology. 83. 6235  </a:t>
            </a:r>
          </a:p>
          <a:p>
            <a:pPr algn="just"/>
            <a:endParaRPr lang="en-US" dirty="0"/>
          </a:p>
        </p:txBody>
      </p:sp>
    </p:spTree>
    <p:extLst>
      <p:ext uri="{BB962C8B-B14F-4D97-AF65-F5344CB8AC3E}">
        <p14:creationId xmlns:p14="http://schemas.microsoft.com/office/powerpoint/2010/main" val="4644487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91589-6954-66CE-B10A-326FB5A3EC25}"/>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B730AE40-D3B3-3C88-1EF1-6150DB3273F1}"/>
              </a:ext>
            </a:extLst>
          </p:cNvPr>
          <p:cNvSpPr>
            <a:spLocks noGrp="1"/>
          </p:cNvSpPr>
          <p:nvPr>
            <p:ph idx="1"/>
          </p:nvPr>
        </p:nvSpPr>
        <p:spPr>
          <a:xfrm>
            <a:off x="1077316" y="1535503"/>
            <a:ext cx="10594223" cy="4140679"/>
          </a:xfrm>
        </p:spPr>
        <p:txBody>
          <a:bodyPr>
            <a:noAutofit/>
          </a:bodyPr>
          <a:lstStyle/>
          <a:p>
            <a:pPr algn="just"/>
            <a:r>
              <a:rPr lang="en-US" sz="2000" dirty="0">
                <a:latin typeface="Times New Roman" panose="02020603050405020304" pitchFamily="18" charset="0"/>
                <a:cs typeface="Times New Roman" panose="02020603050405020304" pitchFamily="18" charset="0"/>
              </a:rPr>
              <a:t>Kumar, Ashu &amp; Kaur, Amandeep &amp; Kumar, Munish. (2019). Face Detection Techniques: A Review. Artificial Intelligence Review. 52. 10.1007/s10462-018-9650-2. </a:t>
            </a:r>
          </a:p>
          <a:p>
            <a:pPr algn="just"/>
            <a:r>
              <a:rPr lang="en-US" sz="2000" dirty="0">
                <a:latin typeface="Times New Roman" panose="02020603050405020304" pitchFamily="18" charset="0"/>
                <a:cs typeface="Times New Roman" panose="02020603050405020304" pitchFamily="18" charset="0"/>
              </a:rPr>
              <a:t>Vaz, F. Antony Jeffrey, et al. "Smart Attendance System using RFID and Raspberry Pi." 2023 Second International Conference on Electronics and Renewable Systems (ICEARS). IEEE, 2023. </a:t>
            </a:r>
          </a:p>
          <a:p>
            <a:pPr algn="just"/>
            <a:r>
              <a:rPr lang="en-US" sz="2000" dirty="0">
                <a:latin typeface="Times New Roman" panose="02020603050405020304" pitchFamily="18" charset="0"/>
                <a:cs typeface="Times New Roman" panose="02020603050405020304" pitchFamily="18" charset="0"/>
              </a:rPr>
              <a:t>Goud, Suraj, et al. "Smart Attendance Monitoring System for Online Classes Using Facial Recognition." International Conference on Innovative Computing and Communications: Proceedings of ICICC 2022, Volume 2. Singapore: Springer Nature Singapore, 2022. </a:t>
            </a:r>
          </a:p>
          <a:p>
            <a:pPr algn="just"/>
            <a:r>
              <a:rPr lang="en-US" sz="2000" dirty="0">
                <a:latin typeface="Times New Roman" panose="02020603050405020304" pitchFamily="18" charset="0"/>
                <a:cs typeface="Times New Roman" panose="02020603050405020304" pitchFamily="18" charset="0"/>
              </a:rPr>
              <a:t>Shailendra, M. Singh, M. A. Khan, V. Singh, A. Patil and S. </a:t>
            </a:r>
            <a:r>
              <a:rPr lang="en-US" sz="2000" dirty="0" err="1">
                <a:latin typeface="Times New Roman" panose="02020603050405020304" pitchFamily="18" charset="0"/>
                <a:cs typeface="Times New Roman" panose="02020603050405020304" pitchFamily="18" charset="0"/>
              </a:rPr>
              <a:t>Wadar</a:t>
            </a:r>
            <a:r>
              <a:rPr lang="en-US" sz="2000" dirty="0">
                <a:latin typeface="Times New Roman" panose="02020603050405020304" pitchFamily="18" charset="0"/>
                <a:cs typeface="Times New Roman" panose="02020603050405020304" pitchFamily="18" charset="0"/>
              </a:rPr>
              <a:t>, "Attendance management system," 2015 2nd International Conference on Electronics and Communication Systems (ICECS), 2015, pp. 418-422, </a:t>
            </a:r>
            <a:r>
              <a:rPr lang="en-US" sz="2000" dirty="0" err="1">
                <a:latin typeface="Times New Roman" panose="02020603050405020304" pitchFamily="18" charset="0"/>
                <a:cs typeface="Times New Roman" panose="02020603050405020304" pitchFamily="18" charset="0"/>
              </a:rPr>
              <a:t>doi</a:t>
            </a:r>
            <a:r>
              <a:rPr lang="en-US" sz="2000" dirty="0">
                <a:latin typeface="Times New Roman" panose="02020603050405020304" pitchFamily="18" charset="0"/>
                <a:cs typeface="Times New Roman" panose="02020603050405020304" pitchFamily="18" charset="0"/>
              </a:rPr>
              <a:t>: 10.1109/ECS.2015.7124938. </a:t>
            </a:r>
          </a:p>
          <a:p>
            <a:pPr algn="just"/>
            <a:r>
              <a:rPr lang="en-US" sz="2000" dirty="0">
                <a:latin typeface="Times New Roman" panose="02020603050405020304" pitchFamily="18" charset="0"/>
                <a:cs typeface="Times New Roman" panose="02020603050405020304" pitchFamily="18" charset="0"/>
              </a:rPr>
              <a:t>G. </a:t>
            </a:r>
            <a:r>
              <a:rPr lang="en-US" sz="2000" dirty="0" err="1">
                <a:latin typeface="Times New Roman" panose="02020603050405020304" pitchFamily="18" charset="0"/>
                <a:cs typeface="Times New Roman" panose="02020603050405020304" pitchFamily="18" charset="0"/>
              </a:rPr>
              <a:t>Sittampalam</a:t>
            </a:r>
            <a:r>
              <a:rPr lang="en-US" sz="2000" dirty="0">
                <a:latin typeface="Times New Roman" panose="02020603050405020304" pitchFamily="18" charset="0"/>
                <a:cs typeface="Times New Roman" panose="02020603050405020304" pitchFamily="18" charset="0"/>
              </a:rPr>
              <a:t> and N. </a:t>
            </a:r>
            <a:r>
              <a:rPr lang="en-US" sz="2000" dirty="0" err="1">
                <a:latin typeface="Times New Roman" panose="02020603050405020304" pitchFamily="18" charset="0"/>
                <a:cs typeface="Times New Roman" panose="02020603050405020304" pitchFamily="18" charset="0"/>
              </a:rPr>
              <a:t>Ratnarajah</a:t>
            </a:r>
            <a:r>
              <a:rPr lang="en-US" sz="2000" dirty="0">
                <a:latin typeface="Times New Roman" panose="02020603050405020304" pitchFamily="18" charset="0"/>
                <a:cs typeface="Times New Roman" panose="02020603050405020304" pitchFamily="18" charset="0"/>
              </a:rPr>
              <a:t>, "SAMS: An IoT Solution for Attendance </a:t>
            </a:r>
            <a:r>
              <a:rPr lang="en-US" sz="2000" dirty="0" err="1">
                <a:latin typeface="Times New Roman" panose="02020603050405020304" pitchFamily="18" charset="0"/>
                <a:cs typeface="Times New Roman" panose="02020603050405020304" pitchFamily="18" charset="0"/>
              </a:rPr>
              <a:t>Manageme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nt</a:t>
            </a:r>
            <a:r>
              <a:rPr lang="en-US" sz="2000" dirty="0">
                <a:latin typeface="Times New Roman" panose="02020603050405020304" pitchFamily="18" charset="0"/>
                <a:cs typeface="Times New Roman" panose="02020603050405020304" pitchFamily="18" charset="0"/>
              </a:rPr>
              <a:t> in Universities," TENCON 2019 - 2019 IEEE Region 10 Conference (TENCON), 2019, pp. 10.1109/TENCON.2019.8929616. </a:t>
            </a:r>
          </a:p>
        </p:txBody>
      </p:sp>
    </p:spTree>
    <p:extLst>
      <p:ext uri="{BB962C8B-B14F-4D97-AF65-F5344CB8AC3E}">
        <p14:creationId xmlns:p14="http://schemas.microsoft.com/office/powerpoint/2010/main" val="24104928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1268</TotalTime>
  <Words>1552</Words>
  <Application>Microsoft Office PowerPoint</Application>
  <PresentationFormat>Widescreen</PresentationFormat>
  <Paragraphs>204</Paragraphs>
  <Slides>17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Times New Roman</vt:lpstr>
      <vt:lpstr>Office Theme</vt:lpstr>
      <vt:lpstr>AI‑Based Smart Attendance System Using Face Recognition in Classrooms</vt:lpstr>
      <vt:lpstr>AIM</vt:lpstr>
      <vt:lpstr>    OBJECTIVES</vt:lpstr>
      <vt:lpstr>ASSUMPTIONS</vt:lpstr>
      <vt:lpstr>PowerPoint Presentation</vt:lpstr>
      <vt:lpstr>PowerPoint Presentation</vt:lpstr>
      <vt:lpstr>ARCHITECTURE</vt:lpstr>
      <vt:lpstr>ALGORITHMS</vt:lpstr>
      <vt:lpstr>Existing System</vt:lpstr>
      <vt:lpstr>Proposed Work</vt:lpstr>
      <vt:lpstr>REQUIREMENTS</vt:lpstr>
      <vt:lpstr>PowerPoint Presentation</vt:lpstr>
      <vt:lpstr>PowerPoint Presentation</vt:lpstr>
      <vt:lpstr>GANTT CHART</vt:lpstr>
      <vt:lpstr>CONCLUSION</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Bhavatharini Sakthivel</dc:creator>
  <cp:lastModifiedBy>Bhavatharini Sakthivel</cp:lastModifiedBy>
  <cp:revision>17</cp:revision>
  <dcterms:created xsi:type="dcterms:W3CDTF">2026-01-29T16:44:04Z</dcterms:created>
  <dcterms:modified xsi:type="dcterms:W3CDTF">2026-04-16T06:54:00Z</dcterms:modified>
</cp:coreProperties>
</file>